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8DE037-D25F-4C01-BCF3-393288241C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C9122-7A89-4EDC-BC17-F15816E7E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67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9122-7A89-4EDC-BC17-F15816E7E9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26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91B19-BCDD-DC72-6D30-394AB596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6873B-7816-E890-A861-E7C3268B2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0FC88-EA47-D401-1CAD-0A69AFE7F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309FA-8D19-13A7-2D74-04670EC54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9122-7A89-4EDC-BC17-F15816E7E9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17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13521-3A87-85BA-2B84-EFC0DC116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2900C-4DC1-1DF7-55F5-B457B5CD1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81C63-885B-4745-2F88-E9564BAC6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D6A2E-D029-E8A7-1E8C-49ABC0BBB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9122-7A89-4EDC-BC17-F15816E7E9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41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92D02-5B8E-7C28-B78F-F6760D108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0B7C9-C081-7C75-C9EC-84DBCA5EE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BA622-81E9-61F9-D177-81D02727F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D14AD-8DEE-E36C-D0E4-F0309F617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9122-7A89-4EDC-BC17-F15816E7E9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78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C392D-9806-1234-17BE-EF3D7B3AF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31196-38F0-7F2A-5064-EE07036FB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E6596-1D20-7E04-8038-FBA2E7A81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8D9AE-85BA-3349-F102-0245FAF1C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9122-7A89-4EDC-BC17-F15816E7E9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46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88181-F95D-560E-2944-E1C10525F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935E1-89C3-27EB-605A-D74A589FE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00DFB-0406-68AB-8BA2-BF1720B71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F531-3A13-4694-9CCF-0554CC4CCFD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00480-0C38-7EE9-71E0-AC79CE651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ABAE-731D-A035-B629-06E1B5A4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8691-9402-4A7E-8063-1DBC6A1D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6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0B7F-6EC4-BA71-8D5B-4BD19DF8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677AA-D998-63DB-7BE3-5951F44AB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B7958-4DD9-D725-55D4-6B19460DC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F531-3A13-4694-9CCF-0554CC4CCFD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0DF1A-6A4C-CB4E-E561-36F32A8F6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84378-12AC-3A28-A3FC-5CA8F5E7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8691-9402-4A7E-8063-1DBC6A1D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37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162AA-9C1A-361D-8D62-782589AFF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86CB5-B000-1D6A-635D-284FB03EA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05B90-CB95-72E6-C298-2BDE96F54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F531-3A13-4694-9CCF-0554CC4CCFD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A343C-3988-345E-40DE-4A7EF93E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FDC03-9327-B144-0CA6-02AF5E08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8691-9402-4A7E-8063-1DBC6A1D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03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8266-2E0D-215F-6BBB-D612664D0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B53E0-9EEF-9098-AECB-5E0D96784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D6061-171C-E5C1-C72B-F39DF2ECE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79311-0AFA-749E-B0AA-A57C3E34E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F531-3A13-4694-9CCF-0554CC4CCFD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D346E-2D13-25E7-007A-2A79D369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9507F-6B07-6EFE-9138-ED118C52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8691-9402-4A7E-8063-1DBC6A1D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96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EA20D-D468-C073-1ABB-13C5553E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69914-BF57-CCF1-54BC-D0F0B363D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B17CC-A89C-2AAB-B6E6-0527EA768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6063A7-4CEE-6410-B40E-85E43AD93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9CBBC-D129-6FB4-4922-3215FBC23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2335B7-C574-7497-0E1D-3A677C70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F531-3A13-4694-9CCF-0554CC4CCFD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813565-10CD-4A2C-69FD-D92938C99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8CB199-B71C-5118-D893-86B2F8C0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8691-9402-4A7E-8063-1DBC6A1D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2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C0BF-FC98-0223-F6CA-770128F7E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1F48E-9FFE-858A-2462-C9E485705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F531-3A13-4694-9CCF-0554CC4CCFD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849EB-6EF5-3A7A-8505-8FD031C70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718D8-6A96-1B91-72E2-5AF96949C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8691-9402-4A7E-8063-1DBC6A1D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31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45F1B-219A-16BD-84A1-77B2427C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F531-3A13-4694-9CCF-0554CC4CCFD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57AFB-AD1C-EDA2-F529-27D50764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9128D-40A9-E694-821A-E687CCD5A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8691-9402-4A7E-8063-1DBC6A1D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95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89374-170B-B31E-8786-596B854ED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11292-7D2F-F585-3732-50D43500A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556A-2CB4-6107-0A01-9F5243B24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E0CED-8A88-0CEA-2262-0CD315E06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F531-3A13-4694-9CCF-0554CC4CCFD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2FCF7-5C01-4F07-6673-455AB50F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A4440-D3F1-1F4F-0820-4EC42A49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8691-9402-4A7E-8063-1DBC6A1D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59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B97F-BB8C-FCF2-45CC-30EDE1E1A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A09654-A990-DC64-7D95-CDFB8D1579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AFEDC-5270-DEC8-FFFE-9609374DF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1B5F6-C0CF-7647-D254-53D866208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F531-3A13-4694-9CCF-0554CC4CCFD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6D05D-A751-7F45-8883-2A1263E7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61A7A-92C9-FAEA-4754-5B3FC3D7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8691-9402-4A7E-8063-1DBC6A1D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3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3723B-7AAA-9958-4B68-B835AE42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F988FA-3B2F-5090-7914-DD1F33AD5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7B5B6-8220-8B26-E9AA-B496F860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F531-3A13-4694-9CCF-0554CC4CCFD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FE85A-4E46-0EFA-A491-33476116C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ACFB0-1349-CCA2-D5C0-5B881ABFB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8691-9402-4A7E-8063-1DBC6A1D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30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62BBAB-BBCB-759C-1D81-F0A07B7D2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17961-395C-7EA7-E4BA-1A22E27AF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54BB9-579E-B023-7395-21E96436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F531-3A13-4694-9CCF-0554CC4CCFD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A7C9E-3B25-4DFB-E437-71FB861A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6653A-8D73-B4AD-7450-C00CE826A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8691-9402-4A7E-8063-1DBC6A1D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3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C75794-2AD6-F351-23F7-606722811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1D02D-9C96-8D92-1942-81ACCECBD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38769-4AE1-6517-8268-2EC42F714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AF531-3A13-4694-9CCF-0554CC4CCFD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9071F-F90A-DC60-E9CE-21129E807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B7D21-89D8-27DE-1646-72F90E8BB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28691-9402-4A7E-8063-1DBC6A1D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6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F407-6463-037B-9BF4-92CF40ADF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1819" y="2235200"/>
            <a:ext cx="9144000" cy="2387600"/>
          </a:xfrm>
        </p:spPr>
        <p:txBody>
          <a:bodyPr/>
          <a:lstStyle/>
          <a:p>
            <a:r>
              <a:rPr lang="en-US" dirty="0"/>
              <a:t>Indian_Wedding_Analysis</a:t>
            </a:r>
            <a:br>
              <a:rPr lang="en-US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7B9F44-6585-2E9D-5E9E-FCE410C3A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F9668F-9C97-4955-4C7A-133CC7B55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619" y="60668"/>
            <a:ext cx="6992304" cy="48674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BF01CD-6245-571A-BC1E-C5E9E4D6B888}"/>
              </a:ext>
            </a:extLst>
          </p:cNvPr>
          <p:cNvSpPr txBox="1"/>
          <p:nvPr/>
        </p:nvSpPr>
        <p:spPr>
          <a:xfrm>
            <a:off x="5476567" y="4928108"/>
            <a:ext cx="652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 :- Relationship between Bride and Groom Clothing cost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9DA75-EBCF-88F9-9731-35E92D0B324E}"/>
              </a:ext>
            </a:extLst>
          </p:cNvPr>
          <p:cNvSpPr txBox="1"/>
          <p:nvPr/>
        </p:nvSpPr>
        <p:spPr>
          <a:xfrm>
            <a:off x="78658" y="167148"/>
            <a:ext cx="4925960" cy="6410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Most purchases are concentrated in the lower-to-mid price range, indicating that the majority of customers prefer moderate wedding clothing budgets.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There is no strong linear relationship between bride and groom clothing costs, as the points are widely scattered across the chart.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High-spending outliers are present for both bride and groom attire, showing that a smaller segment of customers opts for premium or luxury wedding fashion.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Groom clothing expenses vary significantly even when bride clothing costs are similar, suggesting independent purchasing decisions.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Bride clothing costs span a broad range, reflecting diverse preferences in wedding fashion and budgeting.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Overall spending behavior appears highly diverse, with customers following different budget priorities rather than a consistent spending pattern across both outfits.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381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B410D-8966-89EC-F95A-9ACA67F7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B13F48-85E3-2074-AE56-50D6414E0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4619" y="68827"/>
            <a:ext cx="6992304" cy="43073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4C5153-B005-3379-53B3-D241775B11D0}"/>
              </a:ext>
            </a:extLst>
          </p:cNvPr>
          <p:cNvSpPr txBox="1"/>
          <p:nvPr/>
        </p:nvSpPr>
        <p:spPr>
          <a:xfrm>
            <a:off x="5476568" y="4464711"/>
            <a:ext cx="652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2 :- Average Wedding cost by ceremony Type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E2CDB2-2242-E9FB-03AD-7E6DFC63B289}"/>
              </a:ext>
            </a:extLst>
          </p:cNvPr>
          <p:cNvSpPr txBox="1"/>
          <p:nvPr/>
        </p:nvSpPr>
        <p:spPr>
          <a:xfrm>
            <a:off x="78658" y="167148"/>
            <a:ext cx="4925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Heritage Weddings</a:t>
            </a:r>
            <a:r>
              <a:rPr lang="en-US" dirty="0"/>
              <a:t> have the highest average cost at approximately </a:t>
            </a:r>
            <a:r>
              <a:rPr lang="en-US" b="1" dirty="0"/>
              <a:t>₹8.7 million</a:t>
            </a:r>
            <a:r>
              <a:rPr lang="en-US" dirty="0"/>
              <a:t>, making them the most expensive ceremony type in the analysis. </a:t>
            </a:r>
            <a:r>
              <a:rPr lang="en-US" b="1" dirty="0"/>
              <a:t>Palace Weddings</a:t>
            </a:r>
            <a:r>
              <a:rPr lang="en-US" dirty="0"/>
              <a:t> rank second with an average cost of around </a:t>
            </a:r>
            <a:r>
              <a:rPr lang="en-US" b="1" dirty="0"/>
              <a:t>₹7.0 million</a:t>
            </a:r>
            <a:r>
              <a:rPr lang="en-US" dirty="0"/>
              <a:t>, reflecting the premium associated with luxurious venues and grand celebrations.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Cruise Weddings (₹5.9 million)</a:t>
            </a:r>
            <a:r>
              <a:rPr lang="en-US" dirty="0"/>
              <a:t> and </a:t>
            </a:r>
            <a:r>
              <a:rPr lang="en-US" b="1" dirty="0"/>
              <a:t>Destination Weddings (₹4.5 million)</a:t>
            </a:r>
            <a:r>
              <a:rPr lang="en-US" dirty="0"/>
              <a:t> also require substantial budgets, highlighting the higher costs of travel-based ceremonies.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Beach Weddings (₹3.2 million)</a:t>
            </a:r>
            <a:r>
              <a:rPr lang="en-US" dirty="0"/>
              <a:t>, </a:t>
            </a:r>
            <a:r>
              <a:rPr lang="en-US" b="1" dirty="0"/>
              <a:t>Farmhouse Weddings (₹2.8 million)</a:t>
            </a:r>
            <a:r>
              <a:rPr lang="en-US" dirty="0"/>
              <a:t>, and </a:t>
            </a:r>
            <a:r>
              <a:rPr lang="en-US" b="1" dirty="0"/>
              <a:t>Resort Weddings (₹2.5 million)</a:t>
            </a:r>
            <a:r>
              <a:rPr lang="en-US" dirty="0"/>
              <a:t> offer comparatively more budget-friendly alternatives.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Hotel Weddings</a:t>
            </a:r>
            <a:r>
              <a:rPr lang="en-US" dirty="0"/>
              <a:t> have a relatively low average cost of approximately </a:t>
            </a:r>
            <a:r>
              <a:rPr lang="en-US" b="1" dirty="0"/>
              <a:t>₹0.65 million</a:t>
            </a:r>
            <a:r>
              <a:rPr lang="en-US" dirty="0"/>
              <a:t>, making them a cost-effective choice for many couples.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CF9CA2-5E96-11E2-6EA4-514D1E5DDD5B}"/>
              </a:ext>
            </a:extLst>
          </p:cNvPr>
          <p:cNvSpPr txBox="1"/>
          <p:nvPr/>
        </p:nvSpPr>
        <p:spPr>
          <a:xfrm>
            <a:off x="108155" y="5139489"/>
            <a:ext cx="11888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Temple Weddings</a:t>
            </a:r>
            <a:r>
              <a:rPr lang="en-US" dirty="0"/>
              <a:t> are the most economical option, with an average cost of only </a:t>
            </a:r>
            <a:r>
              <a:rPr lang="en-US" b="1" dirty="0"/>
              <a:t>₹0.05 million</a:t>
            </a:r>
            <a:r>
              <a:rPr lang="en-US" dirty="0"/>
              <a:t>, reflecting their simple and traditional nature.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Key insight:</a:t>
            </a:r>
            <a:r>
              <a:rPr lang="en-US" dirty="0"/>
              <a:t> The choice of wedding venue has a significant impact on the overall ceremony budget, with luxury venues commanding several times the cost of traditional or conventional options.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633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3967-E83E-8050-722F-F8F481E0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22B11A-6A2D-9F0C-2030-A8A316A39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6182" y="68827"/>
            <a:ext cx="6269177" cy="43073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1AFE14-7A42-4237-9768-23580E55E1A0}"/>
              </a:ext>
            </a:extLst>
          </p:cNvPr>
          <p:cNvSpPr txBox="1"/>
          <p:nvPr/>
        </p:nvSpPr>
        <p:spPr>
          <a:xfrm>
            <a:off x="5476568" y="4464711"/>
            <a:ext cx="652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3 :- Distribution of average wedding cost by wedding type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18E32F-2B1B-BD3F-3E9F-8703E1BBB026}"/>
              </a:ext>
            </a:extLst>
          </p:cNvPr>
          <p:cNvSpPr txBox="1"/>
          <p:nvPr/>
        </p:nvSpPr>
        <p:spPr>
          <a:xfrm>
            <a:off x="78658" y="48866"/>
            <a:ext cx="492596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Heritage Weddings</a:t>
            </a:r>
            <a:r>
              <a:rPr lang="en-US" dirty="0"/>
              <a:t> account for the largest share of the average wedding cost at </a:t>
            </a:r>
            <a:r>
              <a:rPr lang="en-US" b="1" dirty="0"/>
              <a:t>24%</a:t>
            </a:r>
            <a:r>
              <a:rPr lang="en-US" dirty="0"/>
              <a:t>, making them the most expensive ceremony type.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Palace Weddings</a:t>
            </a:r>
            <a:r>
              <a:rPr lang="en-US" dirty="0"/>
              <a:t> contribute </a:t>
            </a:r>
            <a:r>
              <a:rPr lang="en-US" b="1" dirty="0"/>
              <a:t>19%</a:t>
            </a:r>
            <a:r>
              <a:rPr lang="en-US" dirty="0"/>
              <a:t> of the total average cost, reflecting the premium associated with luxury venues and grand celebrations. </a:t>
            </a:r>
            <a:r>
              <a:rPr lang="en-US" b="1" dirty="0"/>
              <a:t>Cruise Weddings (16%)</a:t>
            </a:r>
            <a:r>
              <a:rPr lang="en-US" dirty="0"/>
              <a:t> and </a:t>
            </a:r>
            <a:r>
              <a:rPr lang="en-US" b="1" dirty="0"/>
              <a:t>Destination Weddings (12%)</a:t>
            </a:r>
            <a:r>
              <a:rPr lang="en-US" dirty="0"/>
              <a:t> together represent a significant portion of wedding expenses, highlighting the popularity of travel-based ceremonies.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Beach Weddings</a:t>
            </a:r>
            <a:r>
              <a:rPr lang="en-US" dirty="0"/>
              <a:t> make up </a:t>
            </a:r>
            <a:r>
              <a:rPr lang="en-US" b="1" dirty="0"/>
              <a:t>9%</a:t>
            </a:r>
            <a:r>
              <a:rPr lang="en-US" dirty="0"/>
              <a:t> of the overall cost distribution, offering a balance between luxury and affordability. </a:t>
            </a:r>
            <a:r>
              <a:rPr lang="en-US" b="1" dirty="0"/>
              <a:t>Farmhouse Weddings (7%)</a:t>
            </a:r>
            <a:r>
              <a:rPr lang="en-US" dirty="0"/>
              <a:t> and </a:t>
            </a:r>
            <a:r>
              <a:rPr lang="en-US" b="1" dirty="0"/>
              <a:t>Resort Weddings (7%)</a:t>
            </a:r>
            <a:r>
              <a:rPr lang="en-US" dirty="0"/>
              <a:t> have similar cost shares, making them attractive mid-range options for couples.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Hotel Weddings</a:t>
            </a:r>
            <a:r>
              <a:rPr lang="en-US" dirty="0"/>
              <a:t> account for only </a:t>
            </a:r>
            <a:r>
              <a:rPr lang="en-US" b="1" dirty="0"/>
              <a:t>1%</a:t>
            </a:r>
            <a:r>
              <a:rPr lang="en-US" dirty="0"/>
              <a:t> of the total average cost, indicating a relatively economical choice compared to luxury venues.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Temple Weddings</a:t>
            </a:r>
            <a:r>
              <a:rPr lang="en-US" dirty="0"/>
              <a:t> contribute </a:t>
            </a:r>
            <a:r>
              <a:rPr lang="en-US" b="1" dirty="0"/>
              <a:t>less than 1%</a:t>
            </a:r>
            <a:r>
              <a:rPr lang="en-US" dirty="0"/>
              <a:t> of the overall cost, making them the most budget-friendly ceremony option.</a:t>
            </a:r>
          </a:p>
        </p:txBody>
      </p:sp>
    </p:spTree>
    <p:extLst>
      <p:ext uri="{BB962C8B-B14F-4D97-AF65-F5344CB8AC3E}">
        <p14:creationId xmlns:p14="http://schemas.microsoft.com/office/powerpoint/2010/main" val="3955249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E05D6-F346-2C3B-A0F3-9A3CDF25B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305A7B-92FD-F974-3CED-AD0A953F0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58" y="48866"/>
            <a:ext cx="12034684" cy="58079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C099B0-122E-8C3C-CDB7-E4AA816FD86A}"/>
              </a:ext>
            </a:extLst>
          </p:cNvPr>
          <p:cNvSpPr txBox="1"/>
          <p:nvPr/>
        </p:nvSpPr>
        <p:spPr>
          <a:xfrm>
            <a:off x="3278050" y="5980994"/>
            <a:ext cx="652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4 :-Average Wedding cost by Location</a:t>
            </a:r>
          </a:p>
        </p:txBody>
      </p:sp>
    </p:spTree>
    <p:extLst>
      <p:ext uri="{BB962C8B-B14F-4D97-AF65-F5344CB8AC3E}">
        <p14:creationId xmlns:p14="http://schemas.microsoft.com/office/powerpoint/2010/main" val="3917263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E8616-FD90-8CB2-6CE3-0D46A38D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2970FD-E2D3-9DCF-AB3D-09B72043E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981"/>
            <a:ext cx="12026096" cy="53598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E0446B-416D-660B-F992-41DD92CC06CA}"/>
              </a:ext>
            </a:extLst>
          </p:cNvPr>
          <p:cNvSpPr txBox="1"/>
          <p:nvPr/>
        </p:nvSpPr>
        <p:spPr>
          <a:xfrm>
            <a:off x="3359073" y="5691627"/>
            <a:ext cx="652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4 :-Average Wedding cost by Location</a:t>
            </a:r>
          </a:p>
        </p:txBody>
      </p:sp>
    </p:spTree>
    <p:extLst>
      <p:ext uri="{BB962C8B-B14F-4D97-AF65-F5344CB8AC3E}">
        <p14:creationId xmlns:p14="http://schemas.microsoft.com/office/powerpoint/2010/main" val="1883431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7AD3D-AC4B-DB50-4F5C-23AC385C4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8C514C-2864-A2EE-E2DC-A08AE5C86289}"/>
              </a:ext>
            </a:extLst>
          </p:cNvPr>
          <p:cNvSpPr txBox="1"/>
          <p:nvPr/>
        </p:nvSpPr>
        <p:spPr>
          <a:xfrm>
            <a:off x="0" y="196770"/>
            <a:ext cx="1207239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Mussoorie</a:t>
            </a:r>
            <a:r>
              <a:rPr lang="en-US" sz="2000" dirty="0"/>
              <a:t> records the highest average wedding cost at approximately </a:t>
            </a:r>
            <a:r>
              <a:rPr lang="en-US" sz="2000" b="1" dirty="0"/>
              <a:t>₹4.24 million</a:t>
            </a:r>
            <a:r>
              <a:rPr lang="en-US" sz="2000" dirty="0"/>
              <a:t>, making it the most expensive destination in the dataset.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Lonavala (₹4.21 million)</a:t>
            </a:r>
            <a:r>
              <a:rPr lang="en-US" sz="2000" dirty="0"/>
              <a:t>, </a:t>
            </a:r>
            <a:r>
              <a:rPr lang="en-US" sz="2000" b="1" dirty="0" err="1"/>
              <a:t>Alibaug</a:t>
            </a:r>
            <a:r>
              <a:rPr lang="en-US" sz="2000" b="1" dirty="0"/>
              <a:t> (₹4.20 million)</a:t>
            </a:r>
            <a:r>
              <a:rPr lang="en-US" sz="2000" dirty="0"/>
              <a:t>, </a:t>
            </a:r>
            <a:r>
              <a:rPr lang="en-US" sz="2000" b="1" dirty="0"/>
              <a:t>Shimla (₹4.19 million)</a:t>
            </a:r>
            <a:r>
              <a:rPr lang="en-US" sz="2000" dirty="0"/>
              <a:t>, and </a:t>
            </a:r>
            <a:r>
              <a:rPr lang="en-US" sz="2000" b="1" dirty="0"/>
              <a:t>New Delhi (₹4.15 million)</a:t>
            </a:r>
            <a:r>
              <a:rPr lang="en-US" sz="2000" dirty="0"/>
              <a:t> also rank among the costliest wedding locations.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Popular destinations such as </a:t>
            </a:r>
            <a:r>
              <a:rPr lang="en-US" sz="2000" b="1" dirty="0"/>
              <a:t>Bangalore (₹4.03 million)</a:t>
            </a:r>
            <a:r>
              <a:rPr lang="en-US" sz="2000" dirty="0"/>
              <a:t>, </a:t>
            </a:r>
            <a:r>
              <a:rPr lang="en-US" sz="2000" b="1" dirty="0"/>
              <a:t>Nainital (₹4.03 million)</a:t>
            </a:r>
            <a:r>
              <a:rPr lang="en-US" sz="2000" dirty="0"/>
              <a:t>, and </a:t>
            </a:r>
            <a:r>
              <a:rPr lang="en-US" sz="2000" b="1" dirty="0"/>
              <a:t>Jaisalmer (₹4.05 million)</a:t>
            </a:r>
            <a:r>
              <a:rPr lang="en-US" sz="2000" dirty="0"/>
              <a:t> maintain relatively high average wedding budgets.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Mid-range destinations include </a:t>
            </a:r>
            <a:r>
              <a:rPr lang="en-US" sz="2000" b="1" dirty="0"/>
              <a:t>Rishikesh (₹3.91 million)</a:t>
            </a:r>
            <a:r>
              <a:rPr lang="en-US" sz="2000" dirty="0"/>
              <a:t>, </a:t>
            </a:r>
            <a:r>
              <a:rPr lang="en-US" sz="2000" b="1" dirty="0"/>
              <a:t>Udaipur (₹3.90 million)</a:t>
            </a:r>
            <a:r>
              <a:rPr lang="en-US" sz="2000" dirty="0"/>
              <a:t>, </a:t>
            </a:r>
            <a:r>
              <a:rPr lang="en-US" sz="2000" b="1" dirty="0"/>
              <a:t>Hyderabad (₹3.79 million)</a:t>
            </a:r>
            <a:r>
              <a:rPr lang="en-US" sz="2000" dirty="0"/>
              <a:t>, and </a:t>
            </a:r>
            <a:r>
              <a:rPr lang="en-US" sz="2000" b="1" dirty="0"/>
              <a:t>Neil Island (₹3.82 million)</a:t>
            </a:r>
            <a:r>
              <a:rPr lang="en-US" sz="2000" dirty="0"/>
              <a:t>, offering a balance between luxury and affordability.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Mumbai (₹3.65 million)</a:t>
            </a:r>
            <a:r>
              <a:rPr lang="en-US" sz="2000" dirty="0"/>
              <a:t> has the lowest average wedding cost among the listed locations, followed closely by </a:t>
            </a:r>
            <a:r>
              <a:rPr lang="en-US" sz="2000" b="1" dirty="0"/>
              <a:t>Goa (₹3.68 million)</a:t>
            </a:r>
            <a:r>
              <a:rPr lang="en-US" sz="2000" dirty="0"/>
              <a:t>, </a:t>
            </a:r>
            <a:r>
              <a:rPr lang="en-US" sz="2000" b="1" dirty="0"/>
              <a:t>Jaipur (₹3.69 million)</a:t>
            </a:r>
            <a:r>
              <a:rPr lang="en-US" sz="2000" dirty="0"/>
              <a:t>, and </a:t>
            </a:r>
            <a:r>
              <a:rPr lang="en-US" sz="2000" b="1" dirty="0"/>
              <a:t>Jodhpur (₹3.70 million)</a:t>
            </a:r>
            <a:r>
              <a:rPr lang="en-US" sz="20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The variation in average wedding costs across destinations is relatively moderate, ranging from </a:t>
            </a:r>
            <a:r>
              <a:rPr lang="en-US" sz="2000" b="1" dirty="0"/>
              <a:t>₹3.65 million to ₹4.24 million</a:t>
            </a:r>
            <a:r>
              <a:rPr lang="en-US" sz="2000" dirty="0"/>
              <a:t>, indicating that location influences the budget but not as dramatically as the choice of wedding type.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Key insight:</a:t>
            </a:r>
            <a:r>
              <a:rPr lang="en-US" sz="2000" dirty="0"/>
              <a:t> While all destinations require a substantial investment, scenic hill stations and premium tourist destinations generally command higher wedding budgets than metropolitan or traditional wedding locations.</a:t>
            </a:r>
          </a:p>
        </p:txBody>
      </p:sp>
    </p:spTree>
    <p:extLst>
      <p:ext uri="{BB962C8B-B14F-4D97-AF65-F5344CB8AC3E}">
        <p14:creationId xmlns:p14="http://schemas.microsoft.com/office/powerpoint/2010/main" val="4185005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FE985-A852-76FC-5366-983235EC7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8254C9-4775-0368-9D71-C8C24A3FE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8" y="162046"/>
            <a:ext cx="11726572" cy="53938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79810F-54DE-087B-80A8-0B9BE513B80B}"/>
              </a:ext>
            </a:extLst>
          </p:cNvPr>
          <p:cNvSpPr txBox="1"/>
          <p:nvPr/>
        </p:nvSpPr>
        <p:spPr>
          <a:xfrm>
            <a:off x="3102038" y="5668478"/>
            <a:ext cx="652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5 :- Average Decoration Cost per Wedding Type</a:t>
            </a:r>
          </a:p>
        </p:txBody>
      </p:sp>
    </p:spTree>
    <p:extLst>
      <p:ext uri="{BB962C8B-B14F-4D97-AF65-F5344CB8AC3E}">
        <p14:creationId xmlns:p14="http://schemas.microsoft.com/office/powerpoint/2010/main" val="2326839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5E78A8-9DD2-1F2D-EDFB-341C1D6C7C1E}"/>
              </a:ext>
            </a:extLst>
          </p:cNvPr>
          <p:cNvSpPr txBox="1"/>
          <p:nvPr/>
        </p:nvSpPr>
        <p:spPr>
          <a:xfrm>
            <a:off x="92597" y="162046"/>
            <a:ext cx="1195664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Heritage Weddings</a:t>
            </a:r>
            <a:r>
              <a:rPr lang="en-US" sz="2000" dirty="0"/>
              <a:t> have the highest average decoration cost at approximately </a:t>
            </a:r>
            <a:r>
              <a:rPr lang="en-US" sz="2000" b="1" dirty="0"/>
              <a:t>₹339,522</a:t>
            </a:r>
            <a:r>
              <a:rPr lang="en-US" sz="2000" dirty="0"/>
              <a:t>, reflecting the premium décor required for grand heritage venues.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Hotel Weddings (₹332,493)</a:t>
            </a:r>
            <a:r>
              <a:rPr lang="en-US" sz="2000" dirty="0"/>
              <a:t> and </a:t>
            </a:r>
            <a:r>
              <a:rPr lang="en-US" sz="2000" b="1" dirty="0"/>
              <a:t>Farmhouse Weddings (₹332,040)</a:t>
            </a:r>
            <a:r>
              <a:rPr lang="en-US" sz="2000" dirty="0"/>
              <a:t> also involve significant decoration expenses, emphasizing the importance of venue aesthetics.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Palace Weddings</a:t>
            </a:r>
            <a:r>
              <a:rPr lang="en-US" sz="2000" dirty="0"/>
              <a:t> average around </a:t>
            </a:r>
            <a:r>
              <a:rPr lang="en-US" sz="2000" b="1" dirty="0"/>
              <a:t>₹330,276</a:t>
            </a:r>
            <a:r>
              <a:rPr lang="en-US" sz="2000" dirty="0"/>
              <a:t>, showcasing the high investment needed to complement luxurious and royal settings.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Destination Weddings (₹326,682)</a:t>
            </a:r>
            <a:r>
              <a:rPr lang="en-US" sz="2000" dirty="0"/>
              <a:t> and </a:t>
            </a:r>
            <a:r>
              <a:rPr lang="en-US" sz="2000" b="1" dirty="0"/>
              <a:t>Cruise Weddings (₹326,387)</a:t>
            </a:r>
            <a:r>
              <a:rPr lang="en-US" sz="2000" dirty="0"/>
              <a:t> have nearly identical decoration costs, indicating consistent décor budgets for travel-based celebrations.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Beach Weddings</a:t>
            </a:r>
            <a:r>
              <a:rPr lang="en-US" sz="2000" dirty="0"/>
              <a:t> require an average decoration cost of </a:t>
            </a:r>
            <a:r>
              <a:rPr lang="en-US" sz="2000" b="1" dirty="0"/>
              <a:t>₹323,378</a:t>
            </a:r>
            <a:r>
              <a:rPr lang="en-US" sz="2000" dirty="0"/>
              <a:t>, while </a:t>
            </a:r>
            <a:r>
              <a:rPr lang="en-US" sz="2000" b="1" dirty="0"/>
              <a:t>Resort Weddings</a:t>
            </a:r>
            <a:r>
              <a:rPr lang="en-US" sz="2000" dirty="0"/>
              <a:t> are slightly lower at </a:t>
            </a:r>
            <a:r>
              <a:rPr lang="en-US" sz="2000" b="1" dirty="0"/>
              <a:t>₹321,578</a:t>
            </a:r>
            <a:r>
              <a:rPr lang="en-US" sz="2000" dirty="0"/>
              <a:t>, making them comparatively economical among premium venues.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Temple Weddings</a:t>
            </a:r>
            <a:r>
              <a:rPr lang="en-US" sz="2000" dirty="0"/>
              <a:t> record the lowest average decoration cost at approximately </a:t>
            </a:r>
            <a:r>
              <a:rPr lang="en-US" sz="2000" b="1" dirty="0"/>
              <a:t>₹310,287</a:t>
            </a:r>
            <a:r>
              <a:rPr lang="en-US" sz="2000" dirty="0"/>
              <a:t>, reflecting their simpler and more traditional setup.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Key insight:</a:t>
            </a:r>
            <a:r>
              <a:rPr lang="en-US" sz="2000" dirty="0"/>
              <a:t> Decoration expenses remain relatively consistent across wedding types, ranging from </a:t>
            </a:r>
            <a:r>
              <a:rPr lang="en-US" sz="2000" b="1" dirty="0"/>
              <a:t>₹310,287 to ₹339,522</a:t>
            </a:r>
            <a:r>
              <a:rPr lang="en-US" sz="2000" dirty="0"/>
              <a:t>, suggesting that venue style influences décor costs, but the variation is less significant than the overall wedding budget.</a:t>
            </a:r>
          </a:p>
        </p:txBody>
      </p:sp>
    </p:spTree>
    <p:extLst>
      <p:ext uri="{BB962C8B-B14F-4D97-AF65-F5344CB8AC3E}">
        <p14:creationId xmlns:p14="http://schemas.microsoft.com/office/powerpoint/2010/main" val="4254636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70F153-B111-4C62-E760-93693BEB5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39" y="196770"/>
            <a:ext cx="11435788" cy="54285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4C876E-C512-5489-ECEE-83F82FA1D12A}"/>
              </a:ext>
            </a:extLst>
          </p:cNvPr>
          <p:cNvSpPr txBox="1"/>
          <p:nvPr/>
        </p:nvSpPr>
        <p:spPr>
          <a:xfrm>
            <a:off x="3102038" y="5668478"/>
            <a:ext cx="652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6 :- Average Decoration Cost per Wedding Type</a:t>
            </a:r>
          </a:p>
        </p:txBody>
      </p:sp>
    </p:spTree>
    <p:extLst>
      <p:ext uri="{BB962C8B-B14F-4D97-AF65-F5344CB8AC3E}">
        <p14:creationId xmlns:p14="http://schemas.microsoft.com/office/powerpoint/2010/main" val="4158282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257F21-9F18-5645-9446-94217E82945C}"/>
              </a:ext>
            </a:extLst>
          </p:cNvPr>
          <p:cNvSpPr txBox="1"/>
          <p:nvPr/>
        </p:nvSpPr>
        <p:spPr>
          <a:xfrm>
            <a:off x="118641" y="219818"/>
            <a:ext cx="404824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Average Decor Cost by Category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Luxury Package</a:t>
            </a:r>
            <a:r>
              <a:rPr lang="en-US" dirty="0"/>
              <a:t> has the highest average décor cost at approximately </a:t>
            </a:r>
            <a:r>
              <a:rPr lang="en-US" b="1" dirty="0"/>
              <a:t>₹500,000</a:t>
            </a:r>
            <a:r>
              <a:rPr lang="en-US" dirty="0"/>
              <a:t>, reflecting premium and elaborate event decorations.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Floral Decor</a:t>
            </a:r>
            <a:r>
              <a:rPr lang="en-US" dirty="0"/>
              <a:t> follows with an average cost of around </a:t>
            </a:r>
            <a:r>
              <a:rPr lang="en-US" b="1" dirty="0"/>
              <a:t>₹300,000</a:t>
            </a:r>
            <a:r>
              <a:rPr lang="en-US" dirty="0"/>
              <a:t>, making it a popular mid-range decoration option.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Venue Decor</a:t>
            </a:r>
            <a:r>
              <a:rPr lang="en-US" dirty="0"/>
              <a:t> costs approximately </a:t>
            </a:r>
            <a:r>
              <a:rPr lang="en-US" b="1" dirty="0"/>
              <a:t>₹130,000</a:t>
            </a:r>
            <a:r>
              <a:rPr lang="en-US" dirty="0"/>
              <a:t>, offering a more budget-friendly alternative while enhancing the event ambiance.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Mandap</a:t>
            </a:r>
            <a:r>
              <a:rPr lang="en-US" dirty="0"/>
              <a:t> has the lowest average decoration cost at about </a:t>
            </a:r>
            <a:r>
              <a:rPr lang="en-US" b="1" dirty="0"/>
              <a:t>₹60,000</a:t>
            </a:r>
            <a:r>
              <a:rPr lang="en-US" dirty="0"/>
              <a:t>, making it the most economical décor component.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insight:</a:t>
            </a:r>
            <a:r>
              <a:rPr lang="en-US" dirty="0"/>
              <a:t> Luxury decoration packages account for the highest spending, while individual décor elements provide more affordable customization options.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74D0F-2AF9-5A87-1DE6-FA4E8B4E1E2B}"/>
              </a:ext>
            </a:extLst>
          </p:cNvPr>
          <p:cNvSpPr txBox="1"/>
          <p:nvPr/>
        </p:nvSpPr>
        <p:spPr>
          <a:xfrm>
            <a:off x="4166887" y="219818"/>
            <a:ext cx="404824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Average Entertainment Cost by Category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Celebrity Singers/Dancers</a:t>
            </a:r>
            <a:r>
              <a:rPr lang="en-US" dirty="0"/>
              <a:t> command the highest average entertainment cost at approximately </a:t>
            </a:r>
            <a:r>
              <a:rPr lang="en-US" b="1" dirty="0"/>
              <a:t>₹375,000</a:t>
            </a:r>
            <a:r>
              <a:rPr lang="en-US" dirty="0"/>
              <a:t>, reflecting the premium charged by renowned performers.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Professional Singers/Dancers</a:t>
            </a:r>
            <a:r>
              <a:rPr lang="en-US" dirty="0"/>
              <a:t> average around </a:t>
            </a:r>
            <a:r>
              <a:rPr lang="en-US" b="1" dirty="0"/>
              <a:t>₹180,000</a:t>
            </a:r>
            <a:r>
              <a:rPr lang="en-US" dirty="0"/>
              <a:t>, providing a balance between quality and affordability.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Live Bands</a:t>
            </a:r>
            <a:r>
              <a:rPr lang="en-US" dirty="0"/>
              <a:t> cost approximately </a:t>
            </a:r>
            <a:r>
              <a:rPr lang="en-US" b="1" dirty="0"/>
              <a:t>₹65,000</a:t>
            </a:r>
            <a:r>
              <a:rPr lang="en-US" dirty="0"/>
              <a:t>, making them a cost-effective option for live entertainment.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DJs</a:t>
            </a:r>
            <a:r>
              <a:rPr lang="en-US" dirty="0"/>
              <a:t> have the lowest average entertainment cost at around </a:t>
            </a:r>
            <a:r>
              <a:rPr lang="en-US" b="1" dirty="0"/>
              <a:t>₹25,000</a:t>
            </a:r>
            <a:r>
              <a:rPr lang="en-US" dirty="0"/>
              <a:t>, making them the most budget-friendly choice.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insight:</a:t>
            </a:r>
            <a:r>
              <a:rPr lang="en-US" dirty="0"/>
              <a:t> Entertainment costs increase significantly with the popularity and exclusivity of the performers.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E5EF2-5D28-778F-B1F8-F138F81350DC}"/>
              </a:ext>
            </a:extLst>
          </p:cNvPr>
          <p:cNvSpPr txBox="1"/>
          <p:nvPr/>
        </p:nvSpPr>
        <p:spPr>
          <a:xfrm>
            <a:off x="8215133" y="219818"/>
            <a:ext cx="375309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Average Gifts Cost by Category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Premium Perfumes</a:t>
            </a:r>
            <a:r>
              <a:rPr lang="en-US" dirty="0"/>
              <a:t> are the most expensive gift category, with an average cost of approximately </a:t>
            </a:r>
            <a:r>
              <a:rPr lang="en-US" b="1" dirty="0"/>
              <a:t>₹4,500 per piece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High-Quality Gifts</a:t>
            </a:r>
            <a:r>
              <a:rPr lang="en-US" dirty="0"/>
              <a:t> rank second at around </a:t>
            </a:r>
            <a:r>
              <a:rPr lang="en-US" b="1" dirty="0"/>
              <a:t>₹3,000 per piece</a:t>
            </a:r>
            <a:r>
              <a:rPr lang="en-US" dirty="0"/>
              <a:t>, offering premium gifting options at a moderate price.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Traditional Handicrafts</a:t>
            </a:r>
            <a:r>
              <a:rPr lang="en-US" dirty="0"/>
              <a:t> cost approximately </a:t>
            </a:r>
            <a:r>
              <a:rPr lang="en-US" b="1" dirty="0"/>
              <a:t>₹1,500 per piece</a:t>
            </a:r>
            <a:r>
              <a:rPr lang="en-US" dirty="0"/>
              <a:t>, providing a balance between affordability and cultural value.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Edible Gifts</a:t>
            </a:r>
            <a:r>
              <a:rPr lang="en-US" dirty="0"/>
              <a:t> are the most economical option, averaging around </a:t>
            </a:r>
            <a:r>
              <a:rPr lang="en-US" b="1" dirty="0"/>
              <a:t>₹800 per piece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insight:</a:t>
            </a:r>
            <a:r>
              <a:rPr lang="en-US" dirty="0"/>
              <a:t> Premium gifting options require significantly higher investment, while edible and traditional gifts offer cost-effective alternatives for wedding guests.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7159FB-E7A7-0A3A-3FE8-CB0CC57FA384}"/>
              </a:ext>
            </a:extLst>
          </p:cNvPr>
          <p:cNvCxnSpPr>
            <a:cxnSpLocks/>
          </p:cNvCxnSpPr>
          <p:nvPr/>
        </p:nvCxnSpPr>
        <p:spPr>
          <a:xfrm>
            <a:off x="4143736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56030F-41AD-D276-7B59-22C6914E7A3E}"/>
              </a:ext>
            </a:extLst>
          </p:cNvPr>
          <p:cNvCxnSpPr>
            <a:cxnSpLocks/>
          </p:cNvCxnSpPr>
          <p:nvPr/>
        </p:nvCxnSpPr>
        <p:spPr>
          <a:xfrm>
            <a:off x="8193912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139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D609D0-9684-CA2F-0EC9-69C6052E8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94" y="266192"/>
            <a:ext cx="11910349" cy="53243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227AFC-0760-13F1-76A0-1298DEAA97B9}"/>
              </a:ext>
            </a:extLst>
          </p:cNvPr>
          <p:cNvSpPr txBox="1"/>
          <p:nvPr/>
        </p:nvSpPr>
        <p:spPr>
          <a:xfrm>
            <a:off x="3102038" y="5668478"/>
            <a:ext cx="6520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7 :- Dashboard (Dynamic Filter Selection) Wedding Type → Place → Decor Category</a:t>
            </a:r>
          </a:p>
          <a:p>
            <a:pPr algn="ctr"/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1301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CE0A10-219D-6410-C7B2-15FBC8F6383E}"/>
              </a:ext>
            </a:extLst>
          </p:cNvPr>
          <p:cNvSpPr txBox="1"/>
          <p:nvPr/>
        </p:nvSpPr>
        <p:spPr>
          <a:xfrm>
            <a:off x="140825" y="141176"/>
            <a:ext cx="1191034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Dynamic Filter Selection (Wedding Type → Place → Decor Category)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analysis begins by allowing the user to select a </a:t>
            </a:r>
            <a:r>
              <a:rPr lang="en-US" sz="2000" b="1" dirty="0"/>
              <a:t>Wedding Type</a:t>
            </a:r>
            <a:r>
              <a:rPr lang="en-US" sz="2000" dirty="0"/>
              <a:t>, followed by a </a:t>
            </a:r>
            <a:r>
              <a:rPr lang="en-US" sz="2000" b="1" dirty="0"/>
              <a:t>Place</a:t>
            </a:r>
            <a:r>
              <a:rPr lang="en-US" sz="2000" dirty="0"/>
              <a:t> and a </a:t>
            </a:r>
            <a:r>
              <a:rPr lang="en-US" sz="2000" b="1" dirty="0"/>
              <a:t>Decor Category</a:t>
            </a:r>
            <a:r>
              <a:rPr lang="en-US" sz="2000" dirty="0"/>
              <a:t>, creating a personalized filtering process.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For this example, the selected inputs are </a:t>
            </a:r>
            <a:r>
              <a:rPr lang="en-US" sz="2000" b="1" dirty="0"/>
              <a:t>Temple Weddings</a:t>
            </a:r>
            <a:r>
              <a:rPr lang="en-US" sz="2000" dirty="0"/>
              <a:t>, </a:t>
            </a:r>
            <a:r>
              <a:rPr lang="en-US" sz="2000" b="1" dirty="0"/>
              <a:t>Tirupati</a:t>
            </a:r>
            <a:r>
              <a:rPr lang="en-US" sz="2000" dirty="0"/>
              <a:t>, and </a:t>
            </a:r>
            <a:r>
              <a:rPr lang="en-US" sz="2000" b="1" dirty="0"/>
              <a:t>Floral Decor</a:t>
            </a:r>
            <a:r>
              <a:rPr lang="en-US" sz="2000" dirty="0"/>
              <a:t>, representing a traditional wedding setup.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After applying these filters, only the records matching the selected criteria are retained for further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filtered dataset is then grouped by </a:t>
            </a:r>
            <a:r>
              <a:rPr lang="en-US" sz="2000" b="1" dirty="0"/>
              <a:t>Entertainment Category</a:t>
            </a:r>
            <a:r>
              <a:rPr lang="en-US" sz="2000" dirty="0"/>
              <a:t>, enabling a comparison of average entertainment costs for the chosen wedding configuration.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This dynamic filtering approach allows users to explore multiple combinations of wedding preferences and understand how costs vary across different scenarios.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Key takeaway:</a:t>
            </a:r>
            <a:r>
              <a:rPr lang="en-US" sz="2000" dirty="0"/>
              <a:t> Interactive filtering makes the analysis flexible and user-centric, helping couples estimate expenses and compare entertainment options based on their specific wedding requirements rather than relying on overall averages. </a:t>
            </a:r>
          </a:p>
        </p:txBody>
      </p:sp>
    </p:spTree>
    <p:extLst>
      <p:ext uri="{BB962C8B-B14F-4D97-AF65-F5344CB8AC3E}">
        <p14:creationId xmlns:p14="http://schemas.microsoft.com/office/powerpoint/2010/main" val="1710780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2B1F2D-1A04-C866-8DB6-97BAE944E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91" y="243068"/>
            <a:ext cx="11632557" cy="50949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EC12FA-E7D6-24EC-B8A8-333185F740D4}"/>
              </a:ext>
            </a:extLst>
          </p:cNvPr>
          <p:cNvSpPr txBox="1"/>
          <p:nvPr/>
        </p:nvSpPr>
        <p:spPr>
          <a:xfrm>
            <a:off x="3102038" y="5668478"/>
            <a:ext cx="6520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8 :- Dynamic Analysis: Entertainment Cost by Category (Place: Tirupati | Decor: Floral Decor)</a:t>
            </a:r>
          </a:p>
        </p:txBody>
      </p:sp>
    </p:spTree>
    <p:extLst>
      <p:ext uri="{BB962C8B-B14F-4D97-AF65-F5344CB8AC3E}">
        <p14:creationId xmlns:p14="http://schemas.microsoft.com/office/powerpoint/2010/main" val="1468166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F980F1-0721-05FF-DA29-E71EDC9A423A}"/>
              </a:ext>
            </a:extLst>
          </p:cNvPr>
          <p:cNvSpPr txBox="1"/>
          <p:nvPr/>
        </p:nvSpPr>
        <p:spPr>
          <a:xfrm>
            <a:off x="192911" y="153147"/>
            <a:ext cx="1180617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Dynamic Analysis: Entertainment Cost by Category (Place: Tirupati | Decor: Floral Decor)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For the selected filters (</a:t>
            </a:r>
            <a:r>
              <a:rPr lang="en-US" sz="2000" b="1" dirty="0"/>
              <a:t>Tirupati</a:t>
            </a:r>
            <a:r>
              <a:rPr lang="en-US" sz="2000" dirty="0"/>
              <a:t> and </a:t>
            </a:r>
            <a:r>
              <a:rPr lang="en-US" sz="2000" b="1" dirty="0"/>
              <a:t>Floral Decor</a:t>
            </a:r>
            <a:r>
              <a:rPr lang="en-US" sz="2000" dirty="0"/>
              <a:t>), </a:t>
            </a:r>
            <a:r>
              <a:rPr lang="en-US" sz="2000" b="1" dirty="0"/>
              <a:t>Celebrity Singers/Dancers</a:t>
            </a:r>
            <a:r>
              <a:rPr lang="en-US" sz="2000" dirty="0"/>
              <a:t> have the highest average entertainment cost at approximately </a:t>
            </a:r>
            <a:r>
              <a:rPr lang="en-US" sz="2000" b="1" dirty="0"/>
              <a:t>₹3.8 lakh</a:t>
            </a:r>
            <a:r>
              <a:rPr lang="en-US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Professional Singers/Dancers</a:t>
            </a:r>
            <a:r>
              <a:rPr lang="en-US" sz="2000" dirty="0"/>
              <a:t> rank second with an average cost of around </a:t>
            </a:r>
            <a:r>
              <a:rPr lang="en-US" sz="2000" b="1" dirty="0"/>
              <a:t>₹1.9 lakh</a:t>
            </a:r>
            <a:r>
              <a:rPr lang="en-US" sz="2000" dirty="0"/>
              <a:t>, offering a premium yet more affordable entertainment option.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Live Bands</a:t>
            </a:r>
            <a:r>
              <a:rPr lang="en-US" sz="2000" dirty="0"/>
              <a:t> are the most economical choice, with an average entertainment cost of approximately </a:t>
            </a:r>
            <a:r>
              <a:rPr lang="en-US" sz="2000" b="1" dirty="0"/>
              <a:t>₹65,000</a:t>
            </a:r>
            <a:r>
              <a:rPr lang="en-US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cost difference between </a:t>
            </a:r>
            <a:r>
              <a:rPr lang="en-US" sz="2000" b="1" dirty="0"/>
              <a:t>Celebrity Performers</a:t>
            </a:r>
            <a:r>
              <a:rPr lang="en-US" sz="2000" dirty="0"/>
              <a:t> and </a:t>
            </a:r>
            <a:r>
              <a:rPr lang="en-US" sz="2000" b="1" dirty="0"/>
              <a:t>Live Bands</a:t>
            </a:r>
            <a:r>
              <a:rPr lang="en-US" sz="2000" dirty="0"/>
              <a:t> is substantial, highlighting the premium associated with renowned artists.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selected wedding configuration demonstrates that entertainment expenses vary significantly depending on the type of performers chosen.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Key insight:</a:t>
            </a:r>
            <a:r>
              <a:rPr lang="en-US" sz="2000" dirty="0"/>
              <a:t> For weddings in </a:t>
            </a:r>
            <a:r>
              <a:rPr lang="en-US" sz="2000" b="1" dirty="0"/>
              <a:t>Tirupati</a:t>
            </a:r>
            <a:r>
              <a:rPr lang="en-US" sz="2000" dirty="0"/>
              <a:t> with </a:t>
            </a:r>
            <a:r>
              <a:rPr lang="en-US" sz="2000" b="1" dirty="0"/>
              <a:t>Floral Decor</a:t>
            </a:r>
            <a:r>
              <a:rPr lang="en-US" sz="2000" dirty="0"/>
              <a:t>, entertainment budgets are primarily driven by performer selection, with celebrity performances requiring the highest investment while live bands provide a cost-effective alternative.</a:t>
            </a:r>
          </a:p>
        </p:txBody>
      </p:sp>
    </p:spTree>
    <p:extLst>
      <p:ext uri="{BB962C8B-B14F-4D97-AF65-F5344CB8AC3E}">
        <p14:creationId xmlns:p14="http://schemas.microsoft.com/office/powerpoint/2010/main" val="1723317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4DF5E5-735F-5BE5-E51D-5F65018BE843}"/>
              </a:ext>
            </a:extLst>
          </p:cNvPr>
          <p:cNvSpPr txBox="1"/>
          <p:nvPr/>
        </p:nvSpPr>
        <p:spPr>
          <a:xfrm>
            <a:off x="1599235" y="2921168"/>
            <a:ext cx="89935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72133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1624</Words>
  <Application>Microsoft Office PowerPoint</Application>
  <PresentationFormat>Widescreen</PresentationFormat>
  <Paragraphs>83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Indian_Wedding_Analysis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urkude</dc:creator>
  <cp:lastModifiedBy>abhishek urkude</cp:lastModifiedBy>
  <cp:revision>5</cp:revision>
  <dcterms:created xsi:type="dcterms:W3CDTF">2026-07-13T18:01:13Z</dcterms:created>
  <dcterms:modified xsi:type="dcterms:W3CDTF">2026-07-15T09:27:23Z</dcterms:modified>
</cp:coreProperties>
</file>