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94A10-8E77-4EBB-B427-7923EA26498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4F3C0-D4FB-41D7-A799-3641CB04E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8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44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DEE4-700A-4DDF-A4D4-4AE3C149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80925-0D6D-2A23-D3E8-38CC296C2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353A0-0522-AA12-47EA-568A0405C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1DCD-69D1-5F71-8A78-A0B3CCED2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66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6C0EB-079C-6B48-B2C2-19433205E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44299-354A-7199-0F50-95919FDCD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0E86E-DE60-1BF9-BFA4-F2606E3B7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A39B4-FCE8-4E86-218C-648F21E65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15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79A3B-9165-29CC-E25C-F0D5CC41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60E50-FBB6-CC37-1D3A-1FC2F4EE6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9B090-D5E1-9E93-EB99-B94ECCF53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738BB-B926-21B2-66FC-59651FD8E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61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BE715-36F6-F4CF-676C-A082249E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D8D39-6AE3-D830-71EF-FF33BD9BE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B1CD7-0016-B9B4-C191-EF5F61697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F8235-0A0E-41E3-2746-698BD30F2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18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7135-1F28-61F6-92CF-1BD7B6837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93DC5-C12F-145F-AF1F-B0F8CAA63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9130C-2E55-1073-E3E3-459645A55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936B5-435A-B0BA-C697-3F00E1EAE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05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0CE9-BB0D-97BB-3823-1D488D05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8DF33-2D9C-32EA-E16D-6578CD149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45269-3115-C05C-56D9-CAC08F38B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F9EC2-7FE3-B7B8-C80C-099205D3B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52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FE1D-3F5E-9568-EBAB-493D21F6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B1099-C35D-BAA3-C14C-01BE65C0B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2A4A6-ED41-44DA-4641-3E2F93320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67266-2C2B-E924-1057-BB2D0A4FF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34F3C0-D4FB-41D7-A799-3641CB04E5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94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E4EC-6D61-851A-C8A2-66C93609B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888AD-F136-FDA4-4DE2-AD54044C7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62152-219A-BE82-2B62-5FD98874D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1407B-7B9A-026D-C433-C34A0B79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92F4-3BE3-F8BF-0A19-3A1955797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7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274E-F150-22B5-DA22-0DD80C21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93EC8-1060-19A2-9C3A-D1C017A9B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9B162-2419-FEB7-EC7F-2EC566907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9552A-6A14-CF39-47E0-94A8DE86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914AC-5FB2-7EBF-2457-FB23582D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61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3423-F858-3B5E-9DE0-C796F5A3F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E386C-951B-ECBA-6303-F7A201168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A04A4-4CBD-46FB-26DE-51A135CA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84586-4680-EDE9-E7B2-4A027D8C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9E552-CC9D-361B-258E-F3DCED4B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42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7136-7DEE-6661-A5BF-D34164C3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26625-7CFE-8D48-E6C3-C6A5862C4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F4772-1CC0-CA2D-364C-04A4346D8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29999-0A20-53CF-1ADB-BFA7FD7B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B5548-8EF3-2A2E-C62C-F207D090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AF71C-E9DE-C969-AE20-96B29CCB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2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A88F-AC50-9A5E-BDB1-658C74D8A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40033-90B7-A9D4-2433-8FEAD6A0B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35EA5-660D-1242-98AB-F9FF80C1A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046FD-B056-5A0C-6F86-EE4615722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310C2E-D237-FA92-7F9E-03B9FEC106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A611AA-3CCB-52B6-8B96-078C80CB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01DFE-F82C-7804-F48C-BBB7E22E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3F90C-29F0-21B2-0760-DE288078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0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6496-C596-0A6F-68B2-23133332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CB2A4-6A58-ABFE-10B1-E2F741F6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E87D5-FC81-66D0-6B0B-51F58A34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E212B-90F1-8E07-6D42-BF09557D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9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8E182B-1BD4-C37D-6BEF-9B41D9F4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ABB510-8954-D21C-3AA3-2C920DEB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401D9-F3B5-EB2D-F7F5-50AC15C9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3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58A6-2A15-C2E3-3DC8-9DAC3AD1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2652F-C629-6C8E-8806-32F72173C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8D3FE-71F1-58C6-DD12-BE4B22893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F23BA-5667-D2BF-E915-F0DD2E7B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6262F-6C57-22D7-0A33-AFAD0845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64C6C-D64E-62A6-BE9B-957DC6D4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2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5057-F2B9-EC91-D1B0-AF586039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5AD341-2115-95F8-B5ED-B12C23D071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2B1A7-393A-C15B-5DD7-61B01B965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41176-D42A-0E50-AD26-BE18A8C9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F8506-CAE3-FC7E-620E-BB1474D0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9AC1C-383D-63D9-0146-43659319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1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C70F-7AFA-685D-41A9-5D9201EC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CDAF9-AE07-C8C4-E1FA-D19C269F3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62B7D-32E1-A6EB-3C2D-F3B57CA7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7A380-EDDC-ACF3-3696-49BB12BB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712AF-E938-B774-C807-8CAF8D22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75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A561B-64DE-BF28-F2C4-865FBCFD0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1A254-ECFC-D849-3045-8C48715B0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B54E2-0170-2C05-3763-23EEC7AA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60844-B94D-9181-BC10-19EFFA95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85ED3-D93E-E0E3-8642-BC1016CA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5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93393-C35F-8384-4740-71E532101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18EB9-D237-C028-5AE2-A289C64C5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FEE4C-28E8-41DF-1F24-3804DA3A2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C4376-93B4-4A1D-808C-C122F6BDD46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6B0A2-8558-083E-EF15-122FB5AC3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9E77A-633D-8F9A-F1B1-C4A457FBE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505EA-1340-42DF-AE4E-38AD37FDD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3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F1E323-750F-9B5B-B764-AE17ACB5A8FB}"/>
              </a:ext>
            </a:extLst>
          </p:cNvPr>
          <p:cNvSpPr txBox="1"/>
          <p:nvPr/>
        </p:nvSpPr>
        <p:spPr>
          <a:xfrm>
            <a:off x="1966452" y="2772697"/>
            <a:ext cx="84459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FASHION TREND ANALYSIS</a:t>
            </a:r>
          </a:p>
          <a:p>
            <a:pPr algn="ctr"/>
            <a:r>
              <a:rPr lang="en-US" sz="5400"/>
              <a:t>REPORT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461391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E9C584-3FB0-F645-B92D-014475A8A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897" y="108155"/>
            <a:ext cx="6464773" cy="49652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0C0A30-3189-086D-D776-B0516E2D6CB3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 :- Top 10 Brands by Product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52593-907B-F436-3532-C91D97556071}"/>
              </a:ext>
            </a:extLst>
          </p:cNvPr>
          <p:cNvSpPr txBox="1"/>
          <p:nvPr/>
        </p:nvSpPr>
        <p:spPr>
          <a:xfrm>
            <a:off x="131492" y="376858"/>
            <a:ext cx="517176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err="1"/>
              <a:t>Performax</a:t>
            </a:r>
            <a:r>
              <a:rPr lang="en-US" sz="2000" b="1" dirty="0"/>
              <a:t> leads the catalog</a:t>
            </a:r>
            <a:r>
              <a:rPr lang="en-US" sz="2000" dirty="0"/>
              <a:t> with 3,029 products, reflecting its strong focus on offering a wide range of activewear options.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err="1"/>
              <a:t>Teamspirit</a:t>
            </a:r>
            <a:r>
              <a:rPr lang="en-US" sz="2000" b="1" dirty="0"/>
              <a:t>, DNMX, and </a:t>
            </a:r>
            <a:r>
              <a:rPr lang="en-US" sz="2000" b="1" dirty="0" err="1"/>
              <a:t>Netplay</a:t>
            </a:r>
            <a:r>
              <a:rPr lang="en-US" sz="2000" dirty="0"/>
              <a:t> also have a significant presence, indicating healthy competition among major fashion brands.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top brands collectively account for a large share of the available products, showing that a few established labels dominate the market.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Both </a:t>
            </a:r>
            <a:r>
              <a:rPr lang="en-US" sz="2000" b="1" dirty="0"/>
              <a:t>western/casual wear</a:t>
            </a:r>
            <a:r>
              <a:rPr lang="en-US" sz="2000" dirty="0"/>
              <a:t> and </a:t>
            </a:r>
            <a:r>
              <a:rPr lang="en-US" sz="2000" b="1" dirty="0"/>
              <a:t>ethnic fashion</a:t>
            </a:r>
            <a:r>
              <a:rPr lang="en-US" sz="2000" dirty="0"/>
              <a:t> brands appear in the top rankings, highlighting diverse customer preferences.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A broad product assortment can help brands attract more shoppers, cater to varied tastes, and build stronger brand visibility.</a:t>
            </a:r>
          </a:p>
        </p:txBody>
      </p:sp>
    </p:spTree>
    <p:extLst>
      <p:ext uri="{BB962C8B-B14F-4D97-AF65-F5344CB8AC3E}">
        <p14:creationId xmlns:p14="http://schemas.microsoft.com/office/powerpoint/2010/main" val="85464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3B63-30FF-1F62-AAC2-45D88464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60B52-3661-A89F-3508-A634C8B23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5897" y="206477"/>
            <a:ext cx="6464773" cy="4866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1B2EA1-4F14-89ED-95D6-89396F75213E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2 :- Top  Categories by Product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1DB65-B220-D0BF-9BAA-AA83EFA0A4CA}"/>
              </a:ext>
            </a:extLst>
          </p:cNvPr>
          <p:cNvSpPr txBox="1"/>
          <p:nvPr/>
        </p:nvSpPr>
        <p:spPr>
          <a:xfrm>
            <a:off x="211330" y="305068"/>
            <a:ext cx="517176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 err="1"/>
              <a:t>Topwear</a:t>
            </a:r>
            <a:r>
              <a:rPr lang="en-US" sz="2000" dirty="0"/>
              <a:t> emerges as the largest category, indicating consistently high consumer demand for items such as shirts, T-shirts, and tops.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 err="1"/>
              <a:t>Westernwear</a:t>
            </a:r>
            <a:r>
              <a:rPr lang="en-US" sz="2000" dirty="0"/>
              <a:t> and </a:t>
            </a:r>
            <a:r>
              <a:rPr lang="en-US" sz="2000" b="1" dirty="0"/>
              <a:t>Footwear</a:t>
            </a:r>
            <a:r>
              <a:rPr lang="en-US" sz="2000" dirty="0"/>
              <a:t> closely follow, highlighting the importance of versatile apparel and accessories in everyday fashion.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strong presence of </a:t>
            </a:r>
            <a:r>
              <a:rPr lang="en-US" sz="2000" b="1" dirty="0" err="1"/>
              <a:t>Ethnicwear</a:t>
            </a:r>
            <a:r>
              <a:rPr lang="en-US" sz="2000" dirty="0"/>
              <a:t> reflects the continued popularity of traditional and festive styles alongside modern trends.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 err="1"/>
              <a:t>Bottomwear</a:t>
            </a:r>
            <a:r>
              <a:rPr lang="en-US" sz="2000" dirty="0"/>
              <a:t> and </a:t>
            </a:r>
            <a:r>
              <a:rPr lang="en-US" sz="2000" b="1" dirty="0"/>
              <a:t>Activewear</a:t>
            </a:r>
            <a:r>
              <a:rPr lang="en-US" sz="2000" dirty="0"/>
              <a:t> maintain a solid share of the catalog, suggesting a balanced interest in both comfort and functionality.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Categories such as </a:t>
            </a:r>
            <a:r>
              <a:rPr lang="en-US" sz="2000" b="1" dirty="0" err="1"/>
              <a:t>Fusionwear</a:t>
            </a:r>
            <a:r>
              <a:rPr lang="en-US" sz="2000" b="1" dirty="0"/>
              <a:t>, Lingerie, and Innerwear</a:t>
            </a:r>
            <a:r>
              <a:rPr lang="en-US" sz="2000" dirty="0"/>
              <a:t> have comparatively smaller offerings, which may represent niche segments or opportunities for future expansion.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1126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E8A7-133C-C8F8-D47F-AD19F311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053643-3FE1-8567-CF10-3B3F1271A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5897" y="305069"/>
            <a:ext cx="6464773" cy="4768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BEF8F0-364D-B9CE-CCC2-436B4CE6EBA8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3 :- Top  10 Products by Number of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C7D31-73F2-10A0-D535-2F3CC777D834}"/>
              </a:ext>
            </a:extLst>
          </p:cNvPr>
          <p:cNvSpPr txBox="1"/>
          <p:nvPr/>
        </p:nvSpPr>
        <p:spPr>
          <a:xfrm>
            <a:off x="211330" y="305068"/>
            <a:ext cx="517176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Crew-Neck T-shirts (2,312 items)</a:t>
            </a:r>
            <a:r>
              <a:rPr lang="en-US" sz="2000" dirty="0"/>
              <a:t> dominate the product mix, making them the clear everyday staple of the collection.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Straight Kurtas (2,126)</a:t>
            </a:r>
            <a:r>
              <a:rPr lang="en-US" sz="2000" dirty="0"/>
              <a:t> and </a:t>
            </a:r>
            <a:r>
              <a:rPr lang="en-US" sz="2000" b="1" dirty="0"/>
              <a:t>Fit Shirts (2,117)</a:t>
            </a:r>
            <a:r>
              <a:rPr lang="en-US" sz="2000" dirty="0"/>
              <a:t> appear in almost equal numbers, revealing a strong balance between ethnic and smart-casual fashion preferences.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With </a:t>
            </a:r>
            <a:r>
              <a:rPr lang="en-US" sz="2000" b="1" dirty="0"/>
              <a:t>1,126 listings</a:t>
            </a:r>
            <a:r>
              <a:rPr lang="en-US" sz="2000" dirty="0"/>
              <a:t>, </a:t>
            </a:r>
            <a:r>
              <a:rPr lang="en-US" sz="2000" b="1" dirty="0"/>
              <a:t>Polo T-shirts</a:t>
            </a:r>
            <a:r>
              <a:rPr lang="en-US" sz="2000" dirty="0"/>
              <a:t> stand out as a versatile choice that bridges casual and semi-formal dressing.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footwear segment is led by </a:t>
            </a:r>
            <a:r>
              <a:rPr lang="en-US" sz="2000" b="1" dirty="0"/>
              <a:t>Sports Shoes (779)</a:t>
            </a:r>
            <a:r>
              <a:rPr lang="en-US" sz="2000" dirty="0"/>
              <a:t>, followed by </a:t>
            </a:r>
            <a:r>
              <a:rPr lang="en-US" sz="2000" b="1" dirty="0"/>
              <a:t>Fit Jeans (755)</a:t>
            </a:r>
            <a:r>
              <a:rPr lang="en-US" sz="2000" dirty="0"/>
              <a:t>, indicating that comfort and practicality remain key purchasing drivers.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Flat Sandals (537)</a:t>
            </a:r>
            <a:r>
              <a:rPr lang="en-US" sz="2000" dirty="0"/>
              <a:t>, </a:t>
            </a:r>
            <a:r>
              <a:rPr lang="en-US" sz="2000" b="1" dirty="0"/>
              <a:t>Thong-Strap Flip-Flops (516)</a:t>
            </a:r>
            <a:r>
              <a:rPr lang="en-US" sz="2000" dirty="0"/>
              <a:t>, and </a:t>
            </a:r>
            <a:r>
              <a:rPr lang="en-US" sz="2000" b="1" dirty="0"/>
              <a:t>Running Shoes (503)</a:t>
            </a:r>
            <a:r>
              <a:rPr lang="en-US" sz="2000" dirty="0"/>
              <a:t> round out the top products, suggesting that consumers increasingly favor styles that combine ease of wear with everyday functionality.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2744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314C-A801-3452-E0FF-8358673A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9872D-4BC3-ACB9-8082-933519D90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5897" y="412955"/>
            <a:ext cx="6464773" cy="43851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6A8B54-140C-6FB7-F788-B2622DC1C819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4 :- Distribution of Price Segment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6D699-7E92-3BA1-6C24-402A2895C244}"/>
              </a:ext>
            </a:extLst>
          </p:cNvPr>
          <p:cNvSpPr txBox="1"/>
          <p:nvPr/>
        </p:nvSpPr>
        <p:spPr>
          <a:xfrm>
            <a:off x="211330" y="305068"/>
            <a:ext cx="517176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/>
              <a:t>Mid-price segment (₹500–₹1,499)</a:t>
            </a:r>
            <a:r>
              <a:rPr lang="en-US" sz="2000" dirty="0"/>
              <a:t> dominates the catalog with </a:t>
            </a:r>
            <a:r>
              <a:rPr lang="en-US" sz="2000" b="1" dirty="0"/>
              <a:t>18,237 products</a:t>
            </a:r>
            <a:r>
              <a:rPr lang="en-US" sz="2000" dirty="0"/>
              <a:t>, establishing it as the sweet spot where affordability meets variety.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</a:t>
            </a:r>
            <a:r>
              <a:rPr lang="en-US" sz="2000" b="1" dirty="0"/>
              <a:t>Premium offerings (₹1,500–₹3,999)</a:t>
            </a:r>
            <a:r>
              <a:rPr lang="en-US" sz="2000" dirty="0"/>
              <a:t> account for </a:t>
            </a:r>
            <a:r>
              <a:rPr lang="en-US" sz="2000" b="1" dirty="0"/>
              <a:t>9,872 items</a:t>
            </a:r>
            <a:r>
              <a:rPr lang="en-US" sz="2000" dirty="0"/>
              <a:t>, indicating a strong consumer appetite for higher-quality and branded fashion. The </a:t>
            </a:r>
            <a:r>
              <a:rPr lang="en-US" sz="2000" b="1" dirty="0"/>
              <a:t>Low-price category (below ₹500)</a:t>
            </a:r>
            <a:r>
              <a:rPr lang="en-US" sz="2000" dirty="0"/>
              <a:t> includes </a:t>
            </a:r>
            <a:r>
              <a:rPr lang="en-US" sz="2000" b="1" dirty="0"/>
              <a:t>2,972 products</a:t>
            </a:r>
            <a:r>
              <a:rPr lang="en-US" sz="2000" dirty="0"/>
              <a:t>, serving budget-conscious shoppers but representing a smaller share of the market.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With only </a:t>
            </a:r>
            <a:r>
              <a:rPr lang="en-US" sz="2000" b="1" dirty="0"/>
              <a:t>501 products</a:t>
            </a:r>
            <a:r>
              <a:rPr lang="en-US" sz="2000" dirty="0"/>
              <a:t>, the </a:t>
            </a:r>
            <a:r>
              <a:rPr lang="en-US" sz="2000" b="1" dirty="0"/>
              <a:t>Luxury segment (₹4,000+)</a:t>
            </a:r>
            <a:r>
              <a:rPr lang="en-US" sz="2000" dirty="0"/>
              <a:t> remains highly exclusive and caters to a niche audience.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Overall verdict:</a:t>
            </a:r>
            <a:r>
              <a:rPr lang="en-US" sz="2000" dirty="0"/>
              <a:t> The pricing landscape is clearly centered on value-driven fashion, with the mid-range segment emerging as the core engine of both assortment and consumer demand.</a:t>
            </a:r>
          </a:p>
        </p:txBody>
      </p:sp>
    </p:spTree>
    <p:extLst>
      <p:ext uri="{BB962C8B-B14F-4D97-AF65-F5344CB8AC3E}">
        <p14:creationId xmlns:p14="http://schemas.microsoft.com/office/powerpoint/2010/main" val="325196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E757-E152-27E1-3523-38472385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1FFDED-4B22-CD6F-653B-AA4AD04A3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383458"/>
            <a:ext cx="6597573" cy="45818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9157FF-29A0-2E0B-81A7-0B9EDA2085B9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5 :-  Category Distribution across Price Segment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AB735-1DEA-A2C8-7AA1-61CEFCFBA174}"/>
              </a:ext>
            </a:extLst>
          </p:cNvPr>
          <p:cNvSpPr txBox="1"/>
          <p:nvPr/>
        </p:nvSpPr>
        <p:spPr>
          <a:xfrm>
            <a:off x="122839" y="187081"/>
            <a:ext cx="51717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 the </a:t>
            </a:r>
            <a:r>
              <a:rPr lang="en-US" sz="2000" b="1" dirty="0"/>
              <a:t>Low-price segment</a:t>
            </a:r>
            <a:r>
              <a:rPr lang="en-US" sz="2000" dirty="0"/>
              <a:t>, </a:t>
            </a:r>
            <a:r>
              <a:rPr lang="en-US" sz="2000" b="1" dirty="0"/>
              <a:t>Footwear (725 items)</a:t>
            </a:r>
            <a:r>
              <a:rPr lang="en-US" sz="2000" dirty="0"/>
              <a:t> and </a:t>
            </a:r>
            <a:r>
              <a:rPr lang="en-US" sz="2000" b="1" dirty="0" err="1"/>
              <a:t>Westernwear</a:t>
            </a:r>
            <a:r>
              <a:rPr lang="en-US" sz="2000" b="1" dirty="0"/>
              <a:t> (648)</a:t>
            </a:r>
            <a:r>
              <a:rPr lang="en-US" sz="2000" dirty="0"/>
              <a:t> lead the assortment, making budget-friendly style highly accessible to shoppers.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/>
              <a:t>Mid-price range</a:t>
            </a:r>
            <a:r>
              <a:rPr lang="en-US" sz="2000" dirty="0"/>
              <a:t> is driven by </a:t>
            </a:r>
            <a:r>
              <a:rPr lang="en-US" sz="2000" b="1" dirty="0" err="1"/>
              <a:t>Topwear</a:t>
            </a:r>
            <a:r>
              <a:rPr lang="en-US" sz="2000" b="1" dirty="0"/>
              <a:t> (4,989 products)</a:t>
            </a:r>
            <a:r>
              <a:rPr lang="en-US" sz="2000" dirty="0"/>
              <a:t> and </a:t>
            </a:r>
            <a:r>
              <a:rPr lang="en-US" sz="2000" b="1" dirty="0" err="1"/>
              <a:t>Westernwear</a:t>
            </a:r>
            <a:r>
              <a:rPr lang="en-US" sz="2000" b="1" dirty="0"/>
              <a:t> (4,611)</a:t>
            </a:r>
            <a:r>
              <a:rPr lang="en-US" sz="2000" dirty="0"/>
              <a:t>, reinforcing this segment’s role as the heart of the fashion market.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Within the </a:t>
            </a:r>
            <a:r>
              <a:rPr lang="en-US" sz="2000" b="1" dirty="0"/>
              <a:t>Premium category</a:t>
            </a:r>
            <a:r>
              <a:rPr lang="en-US" sz="2000" dirty="0"/>
              <a:t>, </a:t>
            </a:r>
            <a:r>
              <a:rPr lang="en-US" sz="2000" b="1" dirty="0"/>
              <a:t>Footwear (2,357 items)</a:t>
            </a:r>
            <a:r>
              <a:rPr lang="en-US" sz="2000" dirty="0"/>
              <a:t> and </a:t>
            </a:r>
            <a:r>
              <a:rPr lang="en-US" sz="2000" b="1" dirty="0" err="1"/>
              <a:t>Ethnicwear</a:t>
            </a:r>
            <a:r>
              <a:rPr lang="en-US" sz="2000" b="1" dirty="0"/>
              <a:t> (1,944)</a:t>
            </a:r>
            <a:r>
              <a:rPr lang="en-US" sz="2000" dirty="0"/>
              <a:t> emerge as key contributors, suggesting that consumers are willing to spend more on quality and occasion wear.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/>
              <a:t>Luxury segment</a:t>
            </a:r>
            <a:r>
              <a:rPr lang="en-US" sz="2000" dirty="0"/>
              <a:t> is relatively small, with </a:t>
            </a:r>
            <a:r>
              <a:rPr lang="en-US" sz="2000" b="1" dirty="0" err="1"/>
              <a:t>Ethnicwear</a:t>
            </a:r>
            <a:r>
              <a:rPr lang="en-US" sz="2000" b="1" dirty="0"/>
              <a:t> (227 products)</a:t>
            </a:r>
            <a:r>
              <a:rPr lang="en-US" sz="2000" dirty="0"/>
              <a:t> and </a:t>
            </a:r>
            <a:r>
              <a:rPr lang="en-US" sz="2000" b="1" dirty="0"/>
              <a:t>Footwear (182)</a:t>
            </a:r>
            <a:r>
              <a:rPr lang="en-US" sz="2000" dirty="0"/>
              <a:t> accounting for the majority of offerings, highlighting the exclusivity of high-end fashion.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A4DD68-61E4-8D3C-A0AD-8DDD6424DEFB}"/>
              </a:ext>
            </a:extLst>
          </p:cNvPr>
          <p:cNvSpPr txBox="1"/>
          <p:nvPr/>
        </p:nvSpPr>
        <p:spPr>
          <a:xfrm>
            <a:off x="122838" y="5829225"/>
            <a:ext cx="11857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Overall insight:</a:t>
            </a:r>
            <a:r>
              <a:rPr lang="en-US" dirty="0"/>
              <a:t> As prices rise, the product mix shifts from everyday essentials toward specialized and premium styles, while the mid-price segment remains the strongest across nearly all categories.</a:t>
            </a:r>
          </a:p>
        </p:txBody>
      </p:sp>
    </p:spTree>
    <p:extLst>
      <p:ext uri="{BB962C8B-B14F-4D97-AF65-F5344CB8AC3E}">
        <p14:creationId xmlns:p14="http://schemas.microsoft.com/office/powerpoint/2010/main" val="1615956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676D-71FB-C3ED-434F-AB4E5272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510179-98C6-A373-408F-FEBF973ED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382444"/>
            <a:ext cx="6597573" cy="4691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A943A7-1F15-CBD5-478D-BBC897A19995}"/>
              </a:ext>
            </a:extLst>
          </p:cNvPr>
          <p:cNvSpPr txBox="1"/>
          <p:nvPr/>
        </p:nvSpPr>
        <p:spPr>
          <a:xfrm>
            <a:off x="5941173" y="5073445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6 :- Top Products Distribution Across Gender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5BBF8-FFDE-0F5A-8AE9-1569C12F6F81}"/>
              </a:ext>
            </a:extLst>
          </p:cNvPr>
          <p:cNvSpPr txBox="1"/>
          <p:nvPr/>
        </p:nvSpPr>
        <p:spPr>
          <a:xfrm>
            <a:off x="122839" y="187081"/>
            <a:ext cx="51717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For </a:t>
            </a:r>
            <a:r>
              <a:rPr lang="en-US" sz="2000" b="1" dirty="0"/>
              <a:t>men</a:t>
            </a:r>
            <a:r>
              <a:rPr lang="en-US" sz="2000" dirty="0"/>
              <a:t>, </a:t>
            </a:r>
            <a:r>
              <a:rPr lang="en-US" sz="2000" b="1" dirty="0"/>
              <a:t>Fit Shirts (2,087 items)</a:t>
            </a:r>
            <a:r>
              <a:rPr lang="en-US" sz="2000" dirty="0"/>
              <a:t> lead the catalog, followed by </a:t>
            </a:r>
            <a:r>
              <a:rPr lang="en-US" sz="2000" b="1" dirty="0"/>
              <a:t>Crew-Neck T-shirts (1,620)</a:t>
            </a:r>
            <a:r>
              <a:rPr lang="en-US" sz="2000" dirty="0"/>
              <a:t> and </a:t>
            </a:r>
            <a:r>
              <a:rPr lang="en-US" sz="2000" b="1" dirty="0"/>
              <a:t>Polo T-shirts (1,105)</a:t>
            </a:r>
            <a:r>
              <a:rPr lang="en-US" sz="2000" dirty="0"/>
              <a:t>, reflecting a strong preference for smart-casual and versatile wardrobe staples.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Men’s fashion also shows significant demand for practical essentials such as </a:t>
            </a:r>
            <a:r>
              <a:rPr lang="en-US" sz="2000" b="1" dirty="0"/>
              <a:t>Fit Jeans (622)</a:t>
            </a:r>
            <a:r>
              <a:rPr lang="en-US" sz="2000" dirty="0"/>
              <a:t> and a variety of footwear, including </a:t>
            </a:r>
            <a:r>
              <a:rPr lang="en-US" sz="2000" b="1" dirty="0"/>
              <a:t>Sports Shoes (376)</a:t>
            </a:r>
            <a:r>
              <a:rPr lang="en-US" sz="2000" dirty="0"/>
              <a:t> and </a:t>
            </a:r>
            <a:r>
              <a:rPr lang="en-US" sz="2000" b="1" dirty="0"/>
              <a:t>Running Shoes (338)</a:t>
            </a:r>
            <a:r>
              <a:rPr lang="en-US" sz="20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 the </a:t>
            </a:r>
            <a:r>
              <a:rPr lang="en-US" sz="2000" b="1" dirty="0"/>
              <a:t>women’s segment</a:t>
            </a:r>
            <a:r>
              <a:rPr lang="en-US" sz="2000" dirty="0"/>
              <a:t>, </a:t>
            </a:r>
            <a:r>
              <a:rPr lang="en-US" sz="2000" b="1" dirty="0"/>
              <a:t>Straight Kurtas (2,113 products)</a:t>
            </a:r>
            <a:r>
              <a:rPr lang="en-US" sz="2000" dirty="0"/>
              <a:t> dominate, underscoring the enduring popularity of ethnic wear.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Women’s offerings are further enriched by styles such as </a:t>
            </a:r>
            <a:r>
              <a:rPr lang="en-US" sz="2000" b="1" dirty="0"/>
              <a:t>A-line Kurtas (803)</a:t>
            </a:r>
            <a:r>
              <a:rPr lang="en-US" sz="2000" dirty="0"/>
              <a:t>, </a:t>
            </a:r>
            <a:r>
              <a:rPr lang="en-US" sz="2000" b="1" dirty="0"/>
              <a:t>Crew-Neck T-shirts (692)</a:t>
            </a:r>
            <a:r>
              <a:rPr lang="en-US" sz="2000" dirty="0"/>
              <a:t>, and </a:t>
            </a:r>
            <a:r>
              <a:rPr lang="en-US" sz="2000" b="1" dirty="0"/>
              <a:t>A-line Dresses (447)</a:t>
            </a:r>
            <a:r>
              <a:rPr lang="en-US" sz="2000" dirty="0"/>
              <a:t>, highlighting a blend of traditional and contemporary fashion choices.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AEB69-B360-E0A0-87FB-CAA9E5DB619E}"/>
              </a:ext>
            </a:extLst>
          </p:cNvPr>
          <p:cNvSpPr txBox="1"/>
          <p:nvPr/>
        </p:nvSpPr>
        <p:spPr>
          <a:xfrm>
            <a:off x="122838" y="5829225"/>
            <a:ext cx="11857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Key takeaway:</a:t>
            </a:r>
            <a:r>
              <a:rPr lang="en-US" sz="2000" dirty="0"/>
              <a:t> Men’s assortments are centered on everyday casual wear, while women’s collections exhibit a broader mix of ethnic, western, and comfort-focused styles, reflecting more diverse fashion preferences.</a:t>
            </a:r>
          </a:p>
        </p:txBody>
      </p:sp>
    </p:spTree>
    <p:extLst>
      <p:ext uri="{BB962C8B-B14F-4D97-AF65-F5344CB8AC3E}">
        <p14:creationId xmlns:p14="http://schemas.microsoft.com/office/powerpoint/2010/main" val="391907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E777E-D0AB-7D44-6DDF-D4E2A06D3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B41F92-36D7-5473-5E4E-C89FF2201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127819"/>
            <a:ext cx="6597573" cy="54175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970DDD-5472-4B1A-40A1-373A1A746565}"/>
              </a:ext>
            </a:extLst>
          </p:cNvPr>
          <p:cNvSpPr txBox="1"/>
          <p:nvPr/>
        </p:nvSpPr>
        <p:spPr>
          <a:xfrm>
            <a:off x="5928915" y="5568047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7 :- Top 3 Products per Category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05110-7CB1-9A26-6F71-DCA0851C37A0}"/>
              </a:ext>
            </a:extLst>
          </p:cNvPr>
          <p:cNvSpPr txBox="1"/>
          <p:nvPr/>
        </p:nvSpPr>
        <p:spPr>
          <a:xfrm>
            <a:off x="0" y="5937379"/>
            <a:ext cx="11857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Smaller segments such as </a:t>
            </a:r>
            <a:r>
              <a:rPr lang="en-US" b="1" dirty="0" err="1"/>
              <a:t>Fusionwear</a:t>
            </a:r>
            <a:r>
              <a:rPr lang="en-US" dirty="0"/>
              <a:t>, </a:t>
            </a:r>
            <a:r>
              <a:rPr lang="en-US" b="1" dirty="0"/>
              <a:t>Lingerie</a:t>
            </a:r>
            <a:r>
              <a:rPr lang="en-US" dirty="0"/>
              <a:t>, and </a:t>
            </a:r>
            <a:r>
              <a:rPr lang="en-US" b="1" dirty="0"/>
              <a:t>Innerwear</a:t>
            </a:r>
            <a:r>
              <a:rPr lang="en-US" dirty="0"/>
              <a:t> remain niche, with specialized products like </a:t>
            </a:r>
            <a:r>
              <a:rPr lang="en-US" b="1" dirty="0"/>
              <a:t>A-line Dresses (171)</a:t>
            </a:r>
            <a:r>
              <a:rPr lang="en-US" dirty="0"/>
              <a:t>, </a:t>
            </a:r>
            <a:r>
              <a:rPr lang="en-US" b="1" dirty="0"/>
              <a:t>T-shirt Bras (63)</a:t>
            </a:r>
            <a:r>
              <a:rPr lang="en-US" dirty="0"/>
              <a:t>, and </a:t>
            </a:r>
            <a:r>
              <a:rPr lang="en-US" b="1" dirty="0"/>
              <a:t>Packs (18)</a:t>
            </a:r>
            <a:r>
              <a:rPr lang="en-US" dirty="0"/>
              <a:t> serving focused consumer needs.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AD604-AAED-9398-E564-2D8C91CCED5B}"/>
              </a:ext>
            </a:extLst>
          </p:cNvPr>
          <p:cNvSpPr txBox="1"/>
          <p:nvPr/>
        </p:nvSpPr>
        <p:spPr>
          <a:xfrm>
            <a:off x="0" y="127819"/>
            <a:ext cx="538309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Activewear</a:t>
            </a:r>
            <a:r>
              <a:rPr lang="en-US" dirty="0"/>
              <a:t> is led by </a:t>
            </a:r>
            <a:r>
              <a:rPr lang="en-US" b="1" dirty="0"/>
              <a:t>Sports Shoes (385 items)</a:t>
            </a:r>
            <a:r>
              <a:rPr lang="en-US" dirty="0"/>
              <a:t>, followed by </a:t>
            </a:r>
            <a:r>
              <a:rPr lang="en-US" b="1" dirty="0"/>
              <a:t>Running Shoes (243)</a:t>
            </a:r>
            <a:r>
              <a:rPr lang="en-US" dirty="0"/>
              <a:t> and </a:t>
            </a:r>
            <a:r>
              <a:rPr lang="en-US" b="1" dirty="0"/>
              <a:t>Crew-Neck T-shirts (228)</a:t>
            </a:r>
            <a:r>
              <a:rPr lang="en-US" dirty="0"/>
              <a:t>, highlighting the importance of performance and comfort in this segment.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</a:t>
            </a:r>
            <a:r>
              <a:rPr lang="en-US" b="1" dirty="0" err="1"/>
              <a:t>Bottomwear</a:t>
            </a:r>
            <a:r>
              <a:rPr lang="en-US" dirty="0"/>
              <a:t>, </a:t>
            </a:r>
            <a:r>
              <a:rPr lang="en-US" b="1" dirty="0"/>
              <a:t>Fit Jeans (580)</a:t>
            </a:r>
            <a:r>
              <a:rPr lang="en-US" dirty="0"/>
              <a:t> dominate, while </a:t>
            </a:r>
            <a:r>
              <a:rPr lang="en-US" b="1" dirty="0"/>
              <a:t>Flat-Front Trousers (342)</a:t>
            </a:r>
            <a:r>
              <a:rPr lang="en-US" dirty="0"/>
              <a:t> and </a:t>
            </a:r>
            <a:r>
              <a:rPr lang="en-US" b="1" dirty="0"/>
              <a:t>Track Pants (198)</a:t>
            </a:r>
            <a:r>
              <a:rPr lang="en-US" dirty="0"/>
              <a:t> cater to both formal and casual needs.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Ethnicwear</a:t>
            </a:r>
            <a:r>
              <a:rPr lang="en-US" dirty="0"/>
              <a:t> is overwhelmingly driven by </a:t>
            </a:r>
            <a:r>
              <a:rPr lang="en-US" b="1" dirty="0"/>
              <a:t>Straight Kurtas (2,076 products)</a:t>
            </a:r>
            <a:r>
              <a:rPr lang="en-US" dirty="0"/>
              <a:t>, with </a:t>
            </a:r>
            <a:r>
              <a:rPr lang="en-US" b="1" dirty="0"/>
              <a:t>A-line Kurtas (764)</a:t>
            </a:r>
            <a:r>
              <a:rPr lang="en-US" dirty="0"/>
              <a:t> and </a:t>
            </a:r>
            <a:r>
              <a:rPr lang="en-US" b="1" dirty="0"/>
              <a:t>Dress Materials (419)</a:t>
            </a:r>
            <a:r>
              <a:rPr lang="en-US" dirty="0"/>
              <a:t> adding depth to the category.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Footwear</a:t>
            </a:r>
            <a:r>
              <a:rPr lang="en-US" dirty="0"/>
              <a:t> category is characterized by versatile everyday styles, with </a:t>
            </a:r>
            <a:r>
              <a:rPr lang="en-US" b="1" dirty="0"/>
              <a:t>Flat Sandals (535)</a:t>
            </a:r>
            <a:r>
              <a:rPr lang="en-US" dirty="0"/>
              <a:t>, </a:t>
            </a:r>
            <a:r>
              <a:rPr lang="en-US" b="1" dirty="0"/>
              <a:t>Thong-Strap Flip-Flops (452)</a:t>
            </a:r>
            <a:r>
              <a:rPr lang="en-US" dirty="0"/>
              <a:t>, and </a:t>
            </a:r>
            <a:r>
              <a:rPr lang="en-US" b="1" dirty="0"/>
              <a:t>Casual Shoes (446)</a:t>
            </a:r>
            <a:r>
              <a:rPr lang="en-US" dirty="0"/>
              <a:t> leading the way.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</a:t>
            </a:r>
            <a:r>
              <a:rPr lang="en-US" b="1" dirty="0" err="1"/>
              <a:t>Topwear</a:t>
            </a:r>
            <a:r>
              <a:rPr lang="en-US" dirty="0"/>
              <a:t>, </a:t>
            </a:r>
            <a:r>
              <a:rPr lang="en-US" b="1" dirty="0"/>
              <a:t>Fit Shirts (2,070)</a:t>
            </a:r>
            <a:r>
              <a:rPr lang="en-US" dirty="0"/>
              <a:t>, </a:t>
            </a:r>
            <a:r>
              <a:rPr lang="en-US" b="1" dirty="0"/>
              <a:t>Crew-Neck T-shirts (1,411)</a:t>
            </a:r>
            <a:r>
              <a:rPr lang="en-US" dirty="0"/>
              <a:t>, and </a:t>
            </a:r>
            <a:r>
              <a:rPr lang="en-US" b="1" dirty="0"/>
              <a:t>Polo T-shirts (1,061)</a:t>
            </a:r>
            <a:r>
              <a:rPr lang="en-US" dirty="0"/>
              <a:t> reaffirm the enduring appeal of classic wardrobe essentials.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Westernwear</a:t>
            </a:r>
            <a:r>
              <a:rPr lang="en-US" dirty="0"/>
              <a:t> shows a balanced mix of casual and feminine styles, led by </a:t>
            </a:r>
            <a:r>
              <a:rPr lang="en-US" b="1" dirty="0"/>
              <a:t>Crew-Neck T-shirts (665)</a:t>
            </a:r>
            <a:r>
              <a:rPr lang="en-US" dirty="0"/>
              <a:t>, </a:t>
            </a:r>
            <a:r>
              <a:rPr lang="en-US" b="1" dirty="0"/>
              <a:t>Round-Neck Tops (292)</a:t>
            </a:r>
            <a:r>
              <a:rPr lang="en-US" dirty="0"/>
              <a:t>, and </a:t>
            </a:r>
            <a:r>
              <a:rPr lang="en-US" b="1" dirty="0"/>
              <a:t>A-line Dresses (270)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6680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F685-738A-DEC7-ED77-85DFB0A2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8C9DF-CA0A-6C63-71C3-CB75F0191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127819"/>
            <a:ext cx="6597573" cy="54402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990073-DF89-CAFD-C1B7-D8D440E402F9}"/>
              </a:ext>
            </a:extLst>
          </p:cNvPr>
          <p:cNvSpPr txBox="1"/>
          <p:nvPr/>
        </p:nvSpPr>
        <p:spPr>
          <a:xfrm>
            <a:off x="5928915" y="5568047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8 :-Distribution of Products by Discount Tier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42294-83CE-5A3B-CD15-514A4FD1244C}"/>
              </a:ext>
            </a:extLst>
          </p:cNvPr>
          <p:cNvSpPr txBox="1"/>
          <p:nvPr/>
        </p:nvSpPr>
        <p:spPr>
          <a:xfrm>
            <a:off x="78658" y="127819"/>
            <a:ext cx="52110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Deep discounts exceeding 40%</a:t>
            </a:r>
            <a:r>
              <a:rPr lang="en-US" dirty="0"/>
              <a:t> account for </a:t>
            </a:r>
            <a:r>
              <a:rPr lang="en-US" b="1" dirty="0"/>
              <a:t>15,194 products</a:t>
            </a:r>
            <a:r>
              <a:rPr lang="en-US" dirty="0"/>
              <a:t>, making aggressive promotions the dominant pricing strategy in the catalog.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No-discount items</a:t>
            </a:r>
            <a:r>
              <a:rPr lang="en-US" dirty="0"/>
              <a:t> still represent a substantial share with </a:t>
            </a:r>
            <a:r>
              <a:rPr lang="en-US" b="1" dirty="0"/>
              <a:t>8,107 products</a:t>
            </a:r>
            <a:r>
              <a:rPr lang="en-US" dirty="0"/>
              <a:t>, indicating that many products retain their full-price appeal.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Moderate discount tier (20–40%)</a:t>
            </a:r>
            <a:r>
              <a:rPr lang="en-US" dirty="0"/>
              <a:t> includes </a:t>
            </a:r>
            <a:r>
              <a:rPr lang="en-US" b="1" dirty="0"/>
              <a:t>6,660 items</a:t>
            </a:r>
            <a:r>
              <a:rPr lang="en-US" dirty="0"/>
              <a:t>, striking a balance between value for customers and profitability for brands.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Light discounts of 10–20%</a:t>
            </a:r>
            <a:r>
              <a:rPr lang="en-US" dirty="0"/>
              <a:t> are relatively uncommon, with only </a:t>
            </a:r>
            <a:r>
              <a:rPr lang="en-US" b="1" dirty="0"/>
              <a:t>1,621 products</a:t>
            </a:r>
            <a:r>
              <a:rPr lang="en-US" dirty="0"/>
              <a:t>, suggesting that retailers tend to favor either significant markdowns or no discounts at all.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Key insight:</a:t>
            </a:r>
            <a:r>
              <a:rPr lang="en-US" dirty="0"/>
              <a:t> The discount landscape is polarized, with brands relying heavily on deep promotions while maintaining a sizeable portfolio of full-priced products.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79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EE67E-62F4-DA06-D7CB-BC01BA4EA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82CF3F-7E3D-FB90-F525-03C5159AF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127819"/>
            <a:ext cx="6597573" cy="54402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FE40F7-139C-4565-CB94-9E90553D1D03}"/>
              </a:ext>
            </a:extLst>
          </p:cNvPr>
          <p:cNvSpPr txBox="1"/>
          <p:nvPr/>
        </p:nvSpPr>
        <p:spPr>
          <a:xfrm>
            <a:off x="5928915" y="5683794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9 :- Discount Distribution Across Categories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D17D9B-2BAE-303A-E06F-E43B4D3C97D0}"/>
              </a:ext>
            </a:extLst>
          </p:cNvPr>
          <p:cNvSpPr txBox="1"/>
          <p:nvPr/>
        </p:nvSpPr>
        <p:spPr>
          <a:xfrm>
            <a:off x="127322" y="127819"/>
            <a:ext cx="515073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Topwear</a:t>
            </a:r>
            <a:r>
              <a:rPr lang="en-US" b="1" dirty="0"/>
              <a:t> (56.3%)</a:t>
            </a:r>
            <a:r>
              <a:rPr lang="en-US" dirty="0"/>
              <a:t>, </a:t>
            </a:r>
            <a:r>
              <a:rPr lang="en-US" b="1" dirty="0" err="1"/>
              <a:t>Westernwear</a:t>
            </a:r>
            <a:r>
              <a:rPr lang="en-US" b="1" dirty="0"/>
              <a:t> (58.0%)</a:t>
            </a:r>
            <a:r>
              <a:rPr lang="en-US" dirty="0"/>
              <a:t>, and </a:t>
            </a:r>
            <a:r>
              <a:rPr lang="en-US" b="1" dirty="0" err="1"/>
              <a:t>Fusionwear</a:t>
            </a:r>
            <a:r>
              <a:rPr lang="en-US" b="1" dirty="0"/>
              <a:t> (57.1%)</a:t>
            </a:r>
            <a:r>
              <a:rPr lang="en-US" dirty="0"/>
              <a:t> rely heavily on </a:t>
            </a:r>
            <a:r>
              <a:rPr lang="en-US" b="1" dirty="0"/>
              <a:t>deep discounts</a:t>
            </a:r>
            <a:r>
              <a:rPr lang="en-US" dirty="0"/>
              <a:t>, showing that promotions are a key driver of sales in these fashion segments.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Ethnicwear</a:t>
            </a:r>
            <a:r>
              <a:rPr lang="en-US" dirty="0"/>
              <a:t> also favors substantial markdowns, with </a:t>
            </a:r>
            <a:r>
              <a:rPr lang="en-US" b="1" dirty="0"/>
              <a:t>52.2%</a:t>
            </a:r>
            <a:r>
              <a:rPr lang="en-US" dirty="0"/>
              <a:t> of products offered at discounts above 40%, while nearly </a:t>
            </a:r>
            <a:r>
              <a:rPr lang="en-US" b="1" dirty="0"/>
              <a:t>29%</a:t>
            </a:r>
            <a:r>
              <a:rPr lang="en-US" dirty="0"/>
              <a:t> remain at full price.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Footwear</a:t>
            </a:r>
            <a:r>
              <a:rPr lang="en-US" dirty="0"/>
              <a:t> stands out for its balanced pricing strategy: </a:t>
            </a:r>
            <a:r>
              <a:rPr lang="en-US" b="1" dirty="0"/>
              <a:t>41.5%</a:t>
            </a:r>
            <a:r>
              <a:rPr lang="en-US" dirty="0"/>
              <a:t> of products are sold without discounts, and </a:t>
            </a:r>
            <a:r>
              <a:rPr lang="en-US" b="1" dirty="0"/>
              <a:t>35.7%</a:t>
            </a:r>
            <a:r>
              <a:rPr lang="en-US" dirty="0"/>
              <a:t> receive moderate markdowns.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Innerwear</a:t>
            </a:r>
            <a:r>
              <a:rPr lang="en-US" dirty="0"/>
              <a:t> is the least promotion-driven category, with an impressive </a:t>
            </a:r>
            <a:r>
              <a:rPr lang="en-US" b="1" dirty="0"/>
              <a:t>87.5%</a:t>
            </a:r>
            <a:r>
              <a:rPr lang="en-US" dirty="0"/>
              <a:t> of items sold at full price, suggesting strong and stable demand.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Lingerie</a:t>
            </a:r>
            <a:r>
              <a:rPr lang="en-US" dirty="0"/>
              <a:t> follows a different pattern, with almost half of its products (</a:t>
            </a:r>
            <a:r>
              <a:rPr lang="en-US" b="1" dirty="0"/>
              <a:t>49.5%</a:t>
            </a:r>
            <a:r>
              <a:rPr lang="en-US" dirty="0"/>
              <a:t>) falling in the moderate discount range.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Overall takeaway:</a:t>
            </a:r>
            <a:r>
              <a:rPr lang="en-US" dirty="0"/>
              <a:t> Discounting practices vary significantly by category, reflecting distinct consumer behaviors and pricing strategies across the fashion market.</a:t>
            </a:r>
          </a:p>
        </p:txBody>
      </p:sp>
    </p:spTree>
    <p:extLst>
      <p:ext uri="{BB962C8B-B14F-4D97-AF65-F5344CB8AC3E}">
        <p14:creationId xmlns:p14="http://schemas.microsoft.com/office/powerpoint/2010/main" val="1437308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9BF3C-F868-C6DD-FED3-C7F60C35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37EF7-D5C1-9FD4-D638-666DE87C2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231494"/>
            <a:ext cx="6597573" cy="54522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281264-DBE0-E564-9591-0E1B7A93CD82}"/>
              </a:ext>
            </a:extLst>
          </p:cNvPr>
          <p:cNvSpPr txBox="1"/>
          <p:nvPr/>
        </p:nvSpPr>
        <p:spPr>
          <a:xfrm>
            <a:off x="5928915" y="5683794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10 :- Category Dominance Across Gender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D250CA-5290-6D73-C297-165585D96C6D}"/>
              </a:ext>
            </a:extLst>
          </p:cNvPr>
          <p:cNvSpPr txBox="1"/>
          <p:nvPr/>
        </p:nvSpPr>
        <p:spPr>
          <a:xfrm>
            <a:off x="104172" y="418486"/>
            <a:ext cx="51507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the </a:t>
            </a:r>
            <a:r>
              <a:rPr lang="en-US" b="1" dirty="0"/>
              <a:t>men’s segment</a:t>
            </a:r>
            <a:r>
              <a:rPr lang="en-US" dirty="0"/>
              <a:t>, </a:t>
            </a:r>
            <a:r>
              <a:rPr lang="en-US" b="1" dirty="0" err="1"/>
              <a:t>Topwear</a:t>
            </a:r>
            <a:r>
              <a:rPr lang="en-US" dirty="0"/>
              <a:t> clearly dominates with </a:t>
            </a:r>
            <a:r>
              <a:rPr lang="en-US" b="1" dirty="0"/>
              <a:t>7,110 products</a:t>
            </a:r>
            <a:r>
              <a:rPr lang="en-US" dirty="0"/>
              <a:t>, far outpacing </a:t>
            </a:r>
            <a:r>
              <a:rPr lang="en-US" b="1" dirty="0"/>
              <a:t>Footwear (3,015)</a:t>
            </a:r>
            <a:r>
              <a:rPr lang="en-US" dirty="0"/>
              <a:t> and </a:t>
            </a:r>
            <a:r>
              <a:rPr lang="en-US" b="1" dirty="0" err="1"/>
              <a:t>Bottomwear</a:t>
            </a:r>
            <a:r>
              <a:rPr lang="en-US" b="1" dirty="0"/>
              <a:t> (2,984)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indicates a strong emphasis on shirts, T-shirts, and other everyday essentials.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For </a:t>
            </a:r>
            <a:r>
              <a:rPr lang="en-US" b="1" dirty="0"/>
              <a:t>women</a:t>
            </a:r>
            <a:r>
              <a:rPr lang="en-US" dirty="0"/>
              <a:t>, </a:t>
            </a:r>
            <a:r>
              <a:rPr lang="en-US" b="1" dirty="0" err="1"/>
              <a:t>Westernwear</a:t>
            </a:r>
            <a:r>
              <a:rPr lang="en-US" dirty="0"/>
              <a:t> leads the assortment with </a:t>
            </a:r>
            <a:r>
              <a:rPr lang="en-US" b="1" dirty="0"/>
              <a:t>6,641 items</a:t>
            </a:r>
            <a:r>
              <a:rPr lang="en-US" dirty="0"/>
              <a:t>, followed by </a:t>
            </a:r>
            <a:r>
              <a:rPr lang="en-US" b="1" dirty="0" err="1"/>
              <a:t>Ethnicwear</a:t>
            </a:r>
            <a:r>
              <a:rPr lang="en-US" b="1" dirty="0"/>
              <a:t> (5,265)</a:t>
            </a:r>
            <a:r>
              <a:rPr lang="en-US" dirty="0"/>
              <a:t> and </a:t>
            </a:r>
            <a:r>
              <a:rPr lang="en-US" b="1" dirty="0"/>
              <a:t>Footwear (3,015)</a:t>
            </a:r>
            <a:r>
              <a:rPr lang="en-US" dirty="0"/>
              <a:t>, showcasing a rich blend of contemporary and traditional styles.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equal representation of </a:t>
            </a:r>
            <a:r>
              <a:rPr lang="en-US" b="1" dirty="0"/>
              <a:t>Footwear (3,015 products)</a:t>
            </a:r>
            <a:r>
              <a:rPr lang="en-US" dirty="0"/>
              <a:t> for both genders highlights the universal importance of this category across the fashion market.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Key insight:</a:t>
            </a:r>
            <a:r>
              <a:rPr lang="en-US" dirty="0"/>
              <a:t> Men’s collections are concentrated around core apparel staples, whereas women’s fashion exhibits a more diverse mix of style segments, reflecting broader and more varied consumer preferences.</a:t>
            </a:r>
          </a:p>
        </p:txBody>
      </p:sp>
    </p:spTree>
    <p:extLst>
      <p:ext uri="{BB962C8B-B14F-4D97-AF65-F5344CB8AC3E}">
        <p14:creationId xmlns:p14="http://schemas.microsoft.com/office/powerpoint/2010/main" val="670700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38BD5-83DB-9172-48B6-C7710FC12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AB8C83-4AC8-15A7-1C5F-3649B9E8B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127820"/>
            <a:ext cx="6597573" cy="55559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ED1C36-067B-466B-EAE8-BB32EBCBC9CE}"/>
              </a:ext>
            </a:extLst>
          </p:cNvPr>
          <p:cNvSpPr txBox="1"/>
          <p:nvPr/>
        </p:nvSpPr>
        <p:spPr>
          <a:xfrm>
            <a:off x="5928915" y="5683794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11 :- Product Type Dominance Across Gender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67D3CA-5536-B5F0-D5C9-E4672045A892}"/>
              </a:ext>
            </a:extLst>
          </p:cNvPr>
          <p:cNvSpPr txBox="1"/>
          <p:nvPr/>
        </p:nvSpPr>
        <p:spPr>
          <a:xfrm>
            <a:off x="127322" y="643649"/>
            <a:ext cx="51507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Among </a:t>
            </a:r>
            <a:r>
              <a:rPr lang="en-US" b="1" dirty="0"/>
              <a:t>men</a:t>
            </a:r>
            <a:r>
              <a:rPr lang="en-US" dirty="0"/>
              <a:t>, </a:t>
            </a:r>
            <a:r>
              <a:rPr lang="en-US" b="1" dirty="0"/>
              <a:t>Fit Shirts</a:t>
            </a:r>
            <a:r>
              <a:rPr lang="en-US" dirty="0"/>
              <a:t> lead with </a:t>
            </a:r>
            <a:r>
              <a:rPr lang="en-US" b="1" dirty="0"/>
              <a:t>2,087 products</a:t>
            </a:r>
            <a:r>
              <a:rPr lang="en-US" dirty="0"/>
              <a:t>, followed by </a:t>
            </a:r>
            <a:r>
              <a:rPr lang="en-US" b="1" dirty="0"/>
              <a:t>Crew-Neck T-shirts (1,620)</a:t>
            </a:r>
            <a:r>
              <a:rPr lang="en-US" dirty="0"/>
              <a:t> and </a:t>
            </a:r>
            <a:r>
              <a:rPr lang="en-US" b="1" dirty="0"/>
              <a:t>Polo T-shirts (1,105)</a:t>
            </a:r>
            <a:r>
              <a:rPr lang="en-US" dirty="0"/>
              <a:t>, emphasizing a strong preference for smart-casual essentials.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the </a:t>
            </a:r>
            <a:r>
              <a:rPr lang="en-US" b="1" dirty="0"/>
              <a:t>women’s segment</a:t>
            </a:r>
            <a:r>
              <a:rPr lang="en-US" dirty="0"/>
              <a:t>, </a:t>
            </a:r>
            <a:r>
              <a:rPr lang="en-US" b="1" dirty="0"/>
              <a:t>Straight Kurtas</a:t>
            </a:r>
            <a:r>
              <a:rPr lang="en-US" dirty="0"/>
              <a:t> dominate with </a:t>
            </a:r>
            <a:r>
              <a:rPr lang="en-US" b="1" dirty="0"/>
              <a:t>2,113 items</a:t>
            </a:r>
            <a:r>
              <a:rPr lang="en-US" dirty="0"/>
              <a:t>, while </a:t>
            </a:r>
            <a:r>
              <a:rPr lang="en-US" b="1" dirty="0"/>
              <a:t>A-line Kurtas (803)</a:t>
            </a:r>
            <a:r>
              <a:rPr lang="en-US" dirty="0"/>
              <a:t> and </a:t>
            </a:r>
            <a:r>
              <a:rPr lang="en-US" b="1" dirty="0"/>
              <a:t>Crew-Neck T-shirts (692)</a:t>
            </a:r>
            <a:r>
              <a:rPr lang="en-US" dirty="0"/>
              <a:t> further illustrate the blend of ethnic and contemporary styles.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Notably, </a:t>
            </a:r>
            <a:r>
              <a:rPr lang="en-US" b="1" dirty="0"/>
              <a:t>Crew-Neck T-shirts</a:t>
            </a:r>
            <a:r>
              <a:rPr lang="en-US" dirty="0"/>
              <a:t> appear among the top products for both genders, highlighting their universal appeal and versatility.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Final takeaway:</a:t>
            </a:r>
            <a:r>
              <a:rPr lang="en-US" dirty="0"/>
              <a:t> Men’s fashion is anchored by classic western staples, whereas women’s collections are led by ethnic silhouettes, reflecting distinct style priorities across genders.</a:t>
            </a:r>
          </a:p>
        </p:txBody>
      </p:sp>
    </p:spTree>
    <p:extLst>
      <p:ext uri="{BB962C8B-B14F-4D97-AF65-F5344CB8AC3E}">
        <p14:creationId xmlns:p14="http://schemas.microsoft.com/office/powerpoint/2010/main" val="2676702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CECB7-9894-521E-C0F9-F6C8FD590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CBC5A9-D01D-8900-EAEB-93917DC6F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266218"/>
            <a:ext cx="6597573" cy="54175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B69C38-54D4-D473-6765-D024E8CFE754}"/>
              </a:ext>
            </a:extLst>
          </p:cNvPr>
          <p:cNvSpPr txBox="1"/>
          <p:nvPr/>
        </p:nvSpPr>
        <p:spPr>
          <a:xfrm>
            <a:off x="5928915" y="5683794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12 :- Average Discount Percentage Across Gender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7A3A74-CFA2-63E9-E0A1-FFCFF86FC39C}"/>
              </a:ext>
            </a:extLst>
          </p:cNvPr>
          <p:cNvSpPr txBox="1"/>
          <p:nvPr/>
        </p:nvSpPr>
        <p:spPr>
          <a:xfrm>
            <a:off x="127322" y="127819"/>
            <a:ext cx="515073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Topwear</a:t>
            </a:r>
            <a:r>
              <a:rPr lang="en-US" b="1" dirty="0"/>
              <a:t> (56.3%)</a:t>
            </a:r>
            <a:r>
              <a:rPr lang="en-US" dirty="0"/>
              <a:t>, </a:t>
            </a:r>
            <a:r>
              <a:rPr lang="en-US" b="1" dirty="0" err="1"/>
              <a:t>Westernwear</a:t>
            </a:r>
            <a:r>
              <a:rPr lang="en-US" b="1" dirty="0"/>
              <a:t> (58.0%)</a:t>
            </a:r>
            <a:r>
              <a:rPr lang="en-US" dirty="0"/>
              <a:t>, and </a:t>
            </a:r>
            <a:r>
              <a:rPr lang="en-US" b="1" dirty="0" err="1"/>
              <a:t>Fusionwear</a:t>
            </a:r>
            <a:r>
              <a:rPr lang="en-US" b="1" dirty="0"/>
              <a:t> (57.1%)</a:t>
            </a:r>
            <a:r>
              <a:rPr lang="en-US" dirty="0"/>
              <a:t> rely heavily on </a:t>
            </a:r>
            <a:r>
              <a:rPr lang="en-US" b="1" dirty="0"/>
              <a:t>deep discounts</a:t>
            </a:r>
            <a:r>
              <a:rPr lang="en-US" dirty="0"/>
              <a:t>, showing that promotions are a key driver of sales in these fashion segments.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Ethnicwear</a:t>
            </a:r>
            <a:r>
              <a:rPr lang="en-US" dirty="0"/>
              <a:t> also favors substantial markdowns, with </a:t>
            </a:r>
            <a:r>
              <a:rPr lang="en-US" b="1" dirty="0"/>
              <a:t>52.2%</a:t>
            </a:r>
            <a:r>
              <a:rPr lang="en-US" dirty="0"/>
              <a:t> of products offered at discounts above 40%, while nearly </a:t>
            </a:r>
            <a:r>
              <a:rPr lang="en-US" b="1" dirty="0"/>
              <a:t>29%</a:t>
            </a:r>
            <a:r>
              <a:rPr lang="en-US" dirty="0"/>
              <a:t> remain at full price.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Footwear</a:t>
            </a:r>
            <a:r>
              <a:rPr lang="en-US" dirty="0"/>
              <a:t> stands out for its balanced pricing strategy: </a:t>
            </a:r>
            <a:r>
              <a:rPr lang="en-US" b="1" dirty="0"/>
              <a:t>41.5%</a:t>
            </a:r>
            <a:r>
              <a:rPr lang="en-US" dirty="0"/>
              <a:t> of products are sold without discounts, and </a:t>
            </a:r>
            <a:r>
              <a:rPr lang="en-US" b="1" dirty="0"/>
              <a:t>35.7%</a:t>
            </a:r>
            <a:r>
              <a:rPr lang="en-US" dirty="0"/>
              <a:t> receive moderate markdowns.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Innerwear</a:t>
            </a:r>
            <a:r>
              <a:rPr lang="en-US" dirty="0"/>
              <a:t> is the least promotion-driven category, with an impressive </a:t>
            </a:r>
            <a:r>
              <a:rPr lang="en-US" b="1" dirty="0"/>
              <a:t>87.5%</a:t>
            </a:r>
            <a:r>
              <a:rPr lang="en-US" dirty="0"/>
              <a:t> of items sold at full price, suggesting strong and stable demand.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Lingerie</a:t>
            </a:r>
            <a:r>
              <a:rPr lang="en-US" dirty="0"/>
              <a:t> follows a different pattern, with almost half of its products (</a:t>
            </a:r>
            <a:r>
              <a:rPr lang="en-US" b="1" dirty="0"/>
              <a:t>49.5%</a:t>
            </a:r>
            <a:r>
              <a:rPr lang="en-US" dirty="0"/>
              <a:t>) falling in the moderate discount range.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Overall takeaway:</a:t>
            </a:r>
            <a:r>
              <a:rPr lang="en-US" dirty="0"/>
              <a:t> Discounting practices vary significantly by category, reflecting distinct consumer behaviors and pricing strategies across the fashion market.</a:t>
            </a:r>
          </a:p>
        </p:txBody>
      </p:sp>
    </p:spTree>
    <p:extLst>
      <p:ext uri="{BB962C8B-B14F-4D97-AF65-F5344CB8AC3E}">
        <p14:creationId xmlns:p14="http://schemas.microsoft.com/office/powerpoint/2010/main" val="2770135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3748-ABA1-EBC7-7E9D-76EC989D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7D843-E117-859F-48CB-D62479D7A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097" y="127820"/>
            <a:ext cx="6597573" cy="55559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FB4B0C-FC37-B395-ECA1-B1EBF4175276}"/>
              </a:ext>
            </a:extLst>
          </p:cNvPr>
          <p:cNvSpPr txBox="1"/>
          <p:nvPr/>
        </p:nvSpPr>
        <p:spPr>
          <a:xfrm>
            <a:off x="5928915" y="5683794"/>
            <a:ext cx="5948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13 :- Price Segment Dominance Across Multiple Categories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F41EB0-BB0A-7D95-3C01-53C323536056}"/>
              </a:ext>
            </a:extLst>
          </p:cNvPr>
          <p:cNvSpPr txBox="1"/>
          <p:nvPr/>
        </p:nvSpPr>
        <p:spPr>
          <a:xfrm>
            <a:off x="127322" y="127819"/>
            <a:ext cx="515073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mid-price segment (₹500–₹1,499)</a:t>
            </a:r>
            <a:r>
              <a:rPr lang="en-US" dirty="0"/>
              <a:t> is the clear leader across most categories, with especially strong representation in </a:t>
            </a:r>
            <a:r>
              <a:rPr lang="en-US" b="1" dirty="0" err="1"/>
              <a:t>Topwear</a:t>
            </a:r>
            <a:r>
              <a:rPr lang="en-US" b="1" dirty="0"/>
              <a:t> (4,989 products)</a:t>
            </a:r>
            <a:r>
              <a:rPr lang="en-US" dirty="0"/>
              <a:t> and </a:t>
            </a:r>
            <a:r>
              <a:rPr lang="en-US" b="1" dirty="0" err="1"/>
              <a:t>Westernwear</a:t>
            </a:r>
            <a:r>
              <a:rPr lang="en-US" b="1" dirty="0"/>
              <a:t> (4,611)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This range emerges as the sweet spot for mainstream fashion.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Footwear</a:t>
            </a:r>
            <a:r>
              <a:rPr lang="en-US" dirty="0"/>
              <a:t> maintains a broad presence across all price tiers, peaking at </a:t>
            </a:r>
            <a:r>
              <a:rPr lang="en-US" b="1" dirty="0"/>
              <a:t>2,766 items</a:t>
            </a:r>
            <a:r>
              <a:rPr lang="en-US" dirty="0"/>
              <a:t> in the mid segment and </a:t>
            </a:r>
            <a:r>
              <a:rPr lang="en-US" b="1" dirty="0"/>
              <a:t>2,357</a:t>
            </a:r>
            <a:r>
              <a:rPr lang="en-US" dirty="0"/>
              <a:t> in the premium segment, highlighting consumers’ willingness to invest in quality shoes.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Ethnicwear</a:t>
            </a:r>
            <a:r>
              <a:rPr lang="en-US" dirty="0"/>
              <a:t> shows remarkable depth, with </a:t>
            </a:r>
            <a:r>
              <a:rPr lang="en-US" b="1" dirty="0"/>
              <a:t>2,506 mid-range</a:t>
            </a:r>
            <a:r>
              <a:rPr lang="en-US" dirty="0"/>
              <a:t> and </a:t>
            </a:r>
            <a:r>
              <a:rPr lang="en-US" b="1" dirty="0"/>
              <a:t>1,944 premium</a:t>
            </a:r>
            <a:r>
              <a:rPr lang="en-US" dirty="0"/>
              <a:t> offerings, while also accounting for a significant share of the </a:t>
            </a:r>
            <a:r>
              <a:rPr lang="en-US" b="1" dirty="0"/>
              <a:t>luxury market (227 items)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premium segment</a:t>
            </a:r>
            <a:r>
              <a:rPr lang="en-US" dirty="0"/>
              <a:t> is particularly important for </a:t>
            </a:r>
            <a:r>
              <a:rPr lang="en-US" b="1" dirty="0" err="1"/>
              <a:t>Bottomwear</a:t>
            </a:r>
            <a:r>
              <a:rPr lang="en-US" dirty="0"/>
              <a:t>, which reaches its highest count of </a:t>
            </a:r>
            <a:r>
              <a:rPr lang="en-US" b="1" dirty="0"/>
              <a:t>1,488 products</a:t>
            </a:r>
            <a:r>
              <a:rPr lang="en-US" dirty="0"/>
              <a:t>, slightly surpassing the mid-price range.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Key takeaway:</a:t>
            </a:r>
            <a:r>
              <a:rPr lang="en-US" dirty="0"/>
              <a:t> Most fashion categories achieve their greatest breadth in the mid-price tier, while premium and luxury segments are driven by specialized categories such as </a:t>
            </a:r>
            <a:r>
              <a:rPr lang="en-US" dirty="0" err="1"/>
              <a:t>ethnicwear</a:t>
            </a:r>
            <a:r>
              <a:rPr lang="en-US" dirty="0"/>
              <a:t> and footwear.</a:t>
            </a:r>
          </a:p>
        </p:txBody>
      </p:sp>
    </p:spTree>
    <p:extLst>
      <p:ext uri="{BB962C8B-B14F-4D97-AF65-F5344CB8AC3E}">
        <p14:creationId xmlns:p14="http://schemas.microsoft.com/office/powerpoint/2010/main" val="297144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38F5-7530-230F-FE05-3C060B687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10192D-EC50-51B0-58FC-E73FE8CB0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8056" y="127818"/>
            <a:ext cx="6913944" cy="61703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3E33EC-6E04-D3B6-1783-BE0890E36457}"/>
              </a:ext>
            </a:extLst>
          </p:cNvPr>
          <p:cNvSpPr txBox="1"/>
          <p:nvPr/>
        </p:nvSpPr>
        <p:spPr>
          <a:xfrm>
            <a:off x="6032155" y="6298121"/>
            <a:ext cx="594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 14 :- Brand Dominance Across Price Segment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A1E9F-757D-8D9B-03CE-F176CA54BA0B}"/>
              </a:ext>
            </a:extLst>
          </p:cNvPr>
          <p:cNvSpPr txBox="1"/>
          <p:nvPr/>
        </p:nvSpPr>
        <p:spPr>
          <a:xfrm>
            <a:off x="243069" y="673812"/>
            <a:ext cx="51507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the </a:t>
            </a:r>
            <a:r>
              <a:rPr lang="en-US" b="1" dirty="0"/>
              <a:t>low-price segment</a:t>
            </a:r>
            <a:r>
              <a:rPr lang="en-US" dirty="0"/>
              <a:t>, </a:t>
            </a:r>
            <a:r>
              <a:rPr lang="en-US" b="1" dirty="0"/>
              <a:t>DNMX (453 products)</a:t>
            </a:r>
            <a:r>
              <a:rPr lang="en-US" dirty="0"/>
              <a:t> leads the market, followed by </a:t>
            </a:r>
            <a:r>
              <a:rPr lang="en-US" b="1" dirty="0"/>
              <a:t>Frisbee (385)</a:t>
            </a:r>
            <a:r>
              <a:rPr lang="en-US" dirty="0"/>
              <a:t> and </a:t>
            </a:r>
            <a:r>
              <a:rPr lang="en-US" b="1" dirty="0" err="1"/>
              <a:t>Avaasa</a:t>
            </a:r>
            <a:r>
              <a:rPr lang="en-US" b="1" dirty="0"/>
              <a:t> Mix-N-Match (339)</a:t>
            </a:r>
            <a:r>
              <a:rPr lang="en-US" dirty="0"/>
              <a:t>, indicating strong competition in the value-fashion space. The </a:t>
            </a:r>
            <a:r>
              <a:rPr lang="en-US" b="1" dirty="0"/>
              <a:t>luxury tier</a:t>
            </a:r>
            <a:r>
              <a:rPr lang="en-US" dirty="0"/>
              <a:t> is dominated by </a:t>
            </a:r>
            <a:r>
              <a:rPr lang="en-US" b="1" dirty="0"/>
              <a:t>W (139 items)</a:t>
            </a:r>
            <a:r>
              <a:rPr lang="en-US" dirty="0"/>
              <a:t>, with </a:t>
            </a:r>
            <a:r>
              <a:rPr lang="en-US" b="1" dirty="0"/>
              <a:t>Biba (91)</a:t>
            </a:r>
            <a:r>
              <a:rPr lang="en-US" dirty="0"/>
              <a:t> and </a:t>
            </a:r>
            <a:r>
              <a:rPr lang="en-US" b="1" dirty="0"/>
              <a:t>Clarks (82)</a:t>
            </a:r>
            <a:r>
              <a:rPr lang="en-US" dirty="0"/>
              <a:t> also maintaining a notable premium presence.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 the highly competitive </a:t>
            </a:r>
            <a:r>
              <a:rPr lang="en-US" b="1" dirty="0"/>
              <a:t>mid-price range</a:t>
            </a:r>
            <a:r>
              <a:rPr lang="en-US" dirty="0"/>
              <a:t>, </a:t>
            </a:r>
            <a:r>
              <a:rPr lang="en-US" b="1" dirty="0" err="1"/>
              <a:t>Performax</a:t>
            </a:r>
            <a:r>
              <a:rPr lang="en-US" b="1" dirty="0"/>
              <a:t> (1,657 products)</a:t>
            </a:r>
            <a:r>
              <a:rPr lang="en-US" dirty="0"/>
              <a:t> emerges as the frontrunner, closely followed by </a:t>
            </a:r>
            <a:r>
              <a:rPr lang="en-US" b="1" dirty="0" err="1"/>
              <a:t>Teamspirit</a:t>
            </a:r>
            <a:r>
              <a:rPr lang="en-US" b="1" dirty="0"/>
              <a:t> (1,583)</a:t>
            </a:r>
            <a:r>
              <a:rPr lang="en-US" dirty="0"/>
              <a:t> and </a:t>
            </a:r>
            <a:r>
              <a:rPr lang="en-US" b="1" dirty="0" err="1"/>
              <a:t>Netplay</a:t>
            </a:r>
            <a:r>
              <a:rPr lang="en-US" b="1" dirty="0"/>
              <a:t> (1,479)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err="1"/>
              <a:t>Performax</a:t>
            </a:r>
            <a:r>
              <a:rPr lang="en-US" dirty="0"/>
              <a:t> also commands the </a:t>
            </a:r>
            <a:r>
              <a:rPr lang="en-US" b="1" dirty="0"/>
              <a:t>premium segment</a:t>
            </a:r>
            <a:r>
              <a:rPr lang="en-US" dirty="0"/>
              <a:t> with </a:t>
            </a:r>
            <a:r>
              <a:rPr lang="en-US" b="1" dirty="0"/>
              <a:t>1,153 offerings</a:t>
            </a:r>
            <a:r>
              <a:rPr lang="en-US" dirty="0"/>
              <a:t>, ahead of </a:t>
            </a:r>
            <a:r>
              <a:rPr lang="en-US" b="1" dirty="0"/>
              <a:t>W (833)</a:t>
            </a:r>
            <a:r>
              <a:rPr lang="en-US" dirty="0"/>
              <a:t> and </a:t>
            </a:r>
            <a:r>
              <a:rPr lang="en-US" b="1" dirty="0"/>
              <a:t>Lee Cooper (588)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Overall insight:</a:t>
            </a:r>
            <a:r>
              <a:rPr lang="en-US" dirty="0"/>
              <a:t> Brands tend to establish clear strongholds within specific price tiers, allowing them to cater effectively to distinct customer segments and reinforce their market positioning.</a:t>
            </a:r>
          </a:p>
        </p:txBody>
      </p:sp>
    </p:spTree>
    <p:extLst>
      <p:ext uri="{BB962C8B-B14F-4D97-AF65-F5344CB8AC3E}">
        <p14:creationId xmlns:p14="http://schemas.microsoft.com/office/powerpoint/2010/main" val="862801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2100</Words>
  <Application>Microsoft Office PowerPoint</Application>
  <PresentationFormat>Widescreen</PresentationFormat>
  <Paragraphs>96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urkude</dc:creator>
  <cp:lastModifiedBy>abhishek urkude</cp:lastModifiedBy>
  <cp:revision>3</cp:revision>
  <dcterms:created xsi:type="dcterms:W3CDTF">2026-07-12T18:34:58Z</dcterms:created>
  <dcterms:modified xsi:type="dcterms:W3CDTF">2026-07-13T07:20:36Z</dcterms:modified>
</cp:coreProperties>
</file>